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6" Type="http://schemas.openxmlformats.org/officeDocument/2006/relationships/tableStyles" Target="tableStyles.xml"/><Relationship Id="rId45" Type="http://schemas.openxmlformats.org/officeDocument/2006/relationships/viewProps" Target="viewProps.xml"/><Relationship Id="rId44" Type="http://schemas.openxmlformats.org/officeDocument/2006/relationships/presProps" Target="presProps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来源：教师原创设计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来源：教师原创设计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来源：用户照片：第3周提高卷，第6页第1题（2）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来源：第3周提高卷，第6页第1题（2）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来源：A版第13页，王牌例题2（3）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来源：A版第13页，王牌例题2（3）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来源：A版第14页，举一反三2，第3题（1）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来源：A版第14页，举一反三2，第3题（1）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来源：A版第15–16页，王牌例题4（2）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来源：A版第16页，王牌例题4（2）解析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来源：第3周提高卷，第6页第3题（2）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来源：第3周提高卷，第6页第3题（2）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来源：A版第16–17页，王牌例题5（2）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来源：A版第16–17页，王牌例题5（2）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来源：教师原创同构变式，依据A版王牌例题5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来源：教师原创同构变式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来源：第4周提高卷，第8页第4题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来源：第4周提高卷，第8页第4题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来源：教师原创拓展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来源：教师原创拓展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来源：A版第21页，王牌例题4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来源：A版第21页，王牌例题4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来源：A版第18–19页，王牌例题1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来源：A版第19页，王牌例题1解析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来源：A版第19页，王牌例题1解析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来源：第4周基础卷，第7页第1题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来源：第4周基础卷，第7页第1题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来源：A版第21–22页，王牌例题5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来源：A版第22页，王牌例题5解析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来源：A版第22页，举一反三5，第1题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来源：原题A版第22页；辨错算式为教师原创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来源：①A版第14页举一反三2第3题（2）；②A版王牌例题5（2）；③A版第21页举一反三4第1题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来源：④第4周基础卷第7页第5题（1）；⑤教师原创不可能性变式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来源：对应前页检测来源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来源：对应前页检测来源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来源：教师原创设计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来源：第4周提高卷，第8页第6题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来源：A版第19页，王牌例题2（2）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来源：A版第19页，王牌例题2（2）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来源：①A版第14页举一反三2第2题（2）；②A版第19页举一反三1第1题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609600" y="342900"/>
            <a:ext cx="99060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封面</a:t>
            </a:r>
            <a:endParaRPr sz="1575" b="1">
              <a:solidFill>
                <a:srgbClr val="126A7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049000" y="342900"/>
            <a:ext cx="619125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01</a:t>
            </a:r>
            <a:endParaRPr sz="1500" b="0">
              <a:solidFill>
                <a:srgbClr val="6477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990600"/>
            <a:ext cx="10953750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45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45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45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45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45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45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45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45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45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45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45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45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巧算与巧添符号</a:t>
            </a:r>
            <a:endParaRPr sz="4500" b="1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2171700"/>
            <a:ext cx="10820400" cy="37528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加减巧算回顾 · 思维拓展</a:t>
            </a:r>
            <a:endParaRPr sz="28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endParaRPr sz="2850"/>
          </a:p>
          <a:p>
            <a: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看懂结构，解释变化，构造目标</a:t>
            </a:r>
            <a:endParaRPr sz="28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6286500"/>
            <a:ext cx="108204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数学思维 · 加减巧算与巧添符号</a:t>
            </a:r>
            <a:endParaRPr sz="1350" b="0">
              <a:solidFill>
                <a:srgbClr val="6477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609600" y="342900"/>
            <a:ext cx="99060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讲解</a:t>
            </a:r>
            <a:endParaRPr sz="1575" b="1">
              <a:solidFill>
                <a:srgbClr val="126A7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049000" y="342900"/>
            <a:ext cx="619125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02</a:t>
            </a:r>
            <a:endParaRPr sz="1500" b="0">
              <a:solidFill>
                <a:srgbClr val="6477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990600"/>
            <a:ext cx="10953750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今天的六个问题</a:t>
            </a:r>
            <a:endParaRPr sz="3300" b="1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2171700"/>
            <a:ext cx="10820400" cy="37528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括号为什么会改变符号？</a:t>
            </a:r>
            <a:endParaRPr sz="25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凑整以后，怎样把差补回来？</a:t>
            </a:r>
            <a:endParaRPr sz="25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长算式的重复结构在哪里？</a:t>
            </a:r>
            <a:endParaRPr sz="25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改一个符号，结果会变多少？</a:t>
            </a:r>
            <a:endParaRPr sz="25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怎样从目标倒着构造算式？</a:t>
            </a:r>
            <a:endParaRPr sz="25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24 点为什么要准备不止一条路？</a:t>
            </a:r>
            <a:endParaRPr sz="25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6286500"/>
            <a:ext cx="108204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数学思维 · 加减巧算与巧添符号</a:t>
            </a:r>
            <a:endParaRPr sz="1350" b="0">
              <a:solidFill>
                <a:srgbClr val="6477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609600" y="342900"/>
            <a:ext cx="99060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独立题</a:t>
            </a:r>
            <a:endParaRPr sz="1575" b="1">
              <a:solidFill>
                <a:srgbClr val="126A7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049000" y="342900"/>
            <a:ext cx="619125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03</a:t>
            </a:r>
            <a:endParaRPr sz="1500" b="0">
              <a:solidFill>
                <a:srgbClr val="6477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990600"/>
            <a:ext cx="10953750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课首复现</a:t>
            </a:r>
            <a:endParaRPr sz="3300" b="1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2171700"/>
            <a:ext cx="10820400" cy="37528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438 − 147 + 262 − 153</a:t>
            </a:r>
            <a:endParaRPr sz="28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endParaRPr sz="2850"/>
          </a:p>
          <a:p>
            <a: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请写出一种简便算法，并解释每个减号的含义。</a:t>
            </a:r>
            <a:endParaRPr sz="28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6286500"/>
            <a:ext cx="108204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先独立思考，再说明依据与检查过程。</a:t>
            </a:r>
            <a:endParaRPr sz="1350" b="0">
              <a:solidFill>
                <a:srgbClr val="6477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609600" y="342900"/>
            <a:ext cx="99060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反馈</a:t>
            </a:r>
            <a:endParaRPr sz="1575" b="1">
              <a:solidFill>
                <a:srgbClr val="126A7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049000" y="342900"/>
            <a:ext cx="619125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04</a:t>
            </a:r>
            <a:endParaRPr sz="1500" b="0">
              <a:solidFill>
                <a:srgbClr val="6477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990600"/>
            <a:ext cx="10953750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复现反馈</a:t>
            </a:r>
            <a:endParaRPr sz="3300" b="1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2171700"/>
            <a:ext cx="10820400" cy="37528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438 + 262 − (147 + 153)</a:t>
            </a:r>
            <a:endParaRPr sz="25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= 700 − 300</a:t>
            </a:r>
            <a:endParaRPr sz="25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= 400</a:t>
            </a:r>
            <a:endParaRPr sz="25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endParaRPr sz="2550"/>
          </a:p>
          <a:p>
            <a: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把要加的数合起来，把要减的数合起来。</a:t>
            </a:r>
            <a:endParaRPr sz="25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6286500"/>
            <a:ext cx="108204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数学思维 · 加减巧算与巧添符号</a:t>
            </a:r>
            <a:endParaRPr sz="1350" b="0">
              <a:solidFill>
                <a:srgbClr val="6477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609600" y="342900"/>
            <a:ext cx="99060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例题</a:t>
            </a:r>
            <a:endParaRPr sz="1575" b="1">
              <a:solidFill>
                <a:srgbClr val="126A7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049000" y="342900"/>
            <a:ext cx="619125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05</a:t>
            </a:r>
            <a:endParaRPr sz="1500" b="0">
              <a:solidFill>
                <a:srgbClr val="6477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990600"/>
            <a:ext cx="10953750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例题一｜括号里的“少减”</a:t>
            </a:r>
            <a:endParaRPr sz="3300" b="1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2171700"/>
            <a:ext cx="10820400" cy="37528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421 − (154 − 79)</a:t>
            </a:r>
            <a:endParaRPr sz="28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endParaRPr sz="2850"/>
          </a:p>
          <a:p>
            <a: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先独立写出第一步变形，再计算。</a:t>
            </a:r>
            <a:endParaRPr sz="28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6286500"/>
            <a:ext cx="108204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先独立思考，再说明依据与检查过程。</a:t>
            </a:r>
            <a:endParaRPr sz="1350" b="0">
              <a:solidFill>
                <a:srgbClr val="6477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609600" y="342900"/>
            <a:ext cx="99060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分析</a:t>
            </a:r>
            <a:endParaRPr sz="1575" b="1">
              <a:solidFill>
                <a:srgbClr val="126A7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049000" y="342900"/>
            <a:ext cx="619125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06</a:t>
            </a:r>
            <a:endParaRPr sz="1500" b="0">
              <a:solidFill>
                <a:srgbClr val="6477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990600"/>
            <a:ext cx="10953750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先多减 79，再加回 79</a:t>
            </a:r>
            <a:endParaRPr sz="3300" b="1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2171700"/>
            <a:ext cx="10820400" cy="37528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先减 154，比原来多减了 79。</a:t>
            </a:r>
            <a:endParaRPr sz="25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所以需要把 79 加回来。</a:t>
            </a:r>
            <a:endParaRPr sz="25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endParaRPr sz="2550"/>
          </a:p>
          <a:p>
            <a: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421 − (154 − 79)</a:t>
            </a:r>
            <a:endParaRPr sz="25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= 421 − 154 + 79</a:t>
            </a:r>
            <a:endParaRPr sz="25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= (421 + 79) − 154 = 346</a:t>
            </a:r>
            <a:endParaRPr sz="25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6286500"/>
            <a:ext cx="108204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数学思维 · 加减巧算与巧添符号</a:t>
            </a:r>
            <a:endParaRPr sz="1350" b="0">
              <a:solidFill>
                <a:srgbClr val="6477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609600" y="342900"/>
            <a:ext cx="99060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独立题</a:t>
            </a:r>
            <a:endParaRPr sz="1575" b="1">
              <a:solidFill>
                <a:srgbClr val="126A7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049000" y="342900"/>
            <a:ext cx="619125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07</a:t>
            </a:r>
            <a:endParaRPr sz="1500" b="0">
              <a:solidFill>
                <a:srgbClr val="6477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990600"/>
            <a:ext cx="10953750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括号变式｜先判断再计算</a:t>
            </a:r>
            <a:endParaRPr sz="3300" b="1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2171700"/>
            <a:ext cx="10820400" cy="37528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573 − (273 − 145) + 255</a:t>
            </a:r>
            <a:endParaRPr sz="28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endParaRPr sz="2850"/>
          </a:p>
          <a:p>
            <a: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请指出能先凑在一起的数，并说明理由。</a:t>
            </a:r>
            <a:endParaRPr sz="28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6286500"/>
            <a:ext cx="108204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先独立思考，再说明依据与检查过程。</a:t>
            </a:r>
            <a:endParaRPr sz="1350" b="0">
              <a:solidFill>
                <a:srgbClr val="6477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609600" y="342900"/>
            <a:ext cx="99060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反馈</a:t>
            </a:r>
            <a:endParaRPr sz="1575" b="1">
              <a:solidFill>
                <a:srgbClr val="126A7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049000" y="342900"/>
            <a:ext cx="619125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08</a:t>
            </a:r>
            <a:endParaRPr sz="1500" b="0">
              <a:solidFill>
                <a:srgbClr val="6477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990600"/>
            <a:ext cx="10953750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变式反馈｜每一步都保持相等</a:t>
            </a:r>
            <a:endParaRPr sz="3300" b="1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2171700"/>
            <a:ext cx="10820400" cy="37528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573 − 273 + 145 + 255</a:t>
            </a:r>
            <a:endParaRPr sz="25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= (573 − 273) + (145 + 255)</a:t>
            </a:r>
            <a:endParaRPr sz="25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= 300 + 400 = 700</a:t>
            </a:r>
            <a:endParaRPr sz="25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endParaRPr sz="2550"/>
          </a:p>
          <a:p>
            <a: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若写成 573 − 273 − 145 + 255，错在哪里？</a:t>
            </a:r>
            <a:endParaRPr sz="25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6286500"/>
            <a:ext cx="108204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数学思维 · 加减巧算与巧添符号</a:t>
            </a:r>
            <a:endParaRPr sz="1350" b="0">
              <a:solidFill>
                <a:srgbClr val="6477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609600" y="342900"/>
            <a:ext cx="99060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例题</a:t>
            </a:r>
            <a:endParaRPr sz="1575" b="1">
              <a:solidFill>
                <a:srgbClr val="126A7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049000" y="342900"/>
            <a:ext cx="619125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09</a:t>
            </a:r>
            <a:endParaRPr sz="1500" b="0">
              <a:solidFill>
                <a:srgbClr val="6477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990600"/>
            <a:ext cx="10953750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例题二｜每个 9 背后的整十数</a:t>
            </a:r>
            <a:endParaRPr sz="3300" b="1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2171700"/>
            <a:ext cx="10820400" cy="37528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9999 + 999 + 99 + 9</a:t>
            </a:r>
            <a:endParaRPr sz="28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endParaRPr sz="2850"/>
          </a:p>
          <a:p>
            <a: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至少写出一种避免逐位进位的方法。</a:t>
            </a:r>
            <a:endParaRPr sz="28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6286500"/>
            <a:ext cx="108204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先独立思考，再说明依据与检查过程。</a:t>
            </a:r>
            <a:endParaRPr sz="1350" b="0">
              <a:solidFill>
                <a:srgbClr val="6477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609600" y="342900"/>
            <a:ext cx="99060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分析</a:t>
            </a:r>
            <a:endParaRPr sz="1575" b="1">
              <a:solidFill>
                <a:srgbClr val="126A7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049000" y="342900"/>
            <a:ext cx="619125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10</a:t>
            </a:r>
            <a:endParaRPr sz="1500" b="0">
              <a:solidFill>
                <a:srgbClr val="6477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990600"/>
            <a:ext cx="10953750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补偿要数清“几次”</a:t>
            </a:r>
            <a:endParaRPr sz="3300" b="1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2171700"/>
            <a:ext cx="10820400" cy="37528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9999 + 999 + 99 + 9</a:t>
            </a:r>
            <a:endParaRPr sz="25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= (10000 − 1) + (1000 − 1)</a:t>
            </a:r>
            <a:endParaRPr sz="25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 + (100 − 1) + (10 − 1)</a:t>
            </a:r>
            <a:endParaRPr sz="25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= 11110 − 4 = 11106</a:t>
            </a:r>
            <a:endParaRPr sz="25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endParaRPr sz="2550"/>
          </a:p>
          <a:p>
            <a: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四个数都多加了 1，所以共减回 4。</a:t>
            </a:r>
            <a:endParaRPr sz="25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6286500"/>
            <a:ext cx="108204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数学思维 · 加减巧算与巧添符号</a:t>
            </a:r>
            <a:endParaRPr sz="1350" b="0">
              <a:solidFill>
                <a:srgbClr val="6477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609600" y="342900"/>
            <a:ext cx="99060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独立题</a:t>
            </a:r>
            <a:endParaRPr sz="1575" b="1">
              <a:solidFill>
                <a:srgbClr val="126A7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049000" y="342900"/>
            <a:ext cx="619125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11</a:t>
            </a:r>
            <a:endParaRPr sz="1500" b="0">
              <a:solidFill>
                <a:srgbClr val="6477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990600"/>
            <a:ext cx="10953750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补偿变式｜加法和减法一起出现</a:t>
            </a:r>
            <a:endParaRPr sz="3300" b="1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2171700"/>
            <a:ext cx="10820400" cy="37528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403 + 398 − 297 − 301</a:t>
            </a:r>
            <a:endParaRPr sz="28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endParaRPr sz="2850"/>
          </a:p>
          <a:p>
            <a: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先把它和整百数比较，再检验结果。</a:t>
            </a:r>
            <a:endParaRPr sz="28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6286500"/>
            <a:ext cx="108204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先独立思考，再说明依据与检查过程。</a:t>
            </a:r>
            <a:endParaRPr sz="1350" b="0">
              <a:solidFill>
                <a:srgbClr val="6477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609600" y="342900"/>
            <a:ext cx="99060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反馈</a:t>
            </a:r>
            <a:endParaRPr sz="1575" b="1">
              <a:solidFill>
                <a:srgbClr val="126A7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049000" y="342900"/>
            <a:ext cx="619125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12</a:t>
            </a:r>
            <a:endParaRPr sz="1500" b="0">
              <a:solidFill>
                <a:srgbClr val="6477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990600"/>
            <a:ext cx="10953750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补偿反馈｜减数变大，要加回来</a:t>
            </a:r>
            <a:endParaRPr sz="3300" b="1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2171700"/>
            <a:ext cx="10820400" cy="37528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400 + 400 − 300 − 300</a:t>
            </a:r>
            <a:endParaRPr sz="25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再修正：+3 −2 +3 −1 = +3</a:t>
            </a:r>
            <a:endParaRPr sz="25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endParaRPr sz="2550"/>
          </a:p>
          <a:p>
            <a: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403 + 398 − 297 − 301 = 203</a:t>
            </a:r>
            <a:endParaRPr sz="25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endParaRPr sz="2550"/>
          </a:p>
          <a:p>
            <a: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另一条路：(403 − 301) + (398 − 297)</a:t>
            </a:r>
            <a:endParaRPr sz="25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6286500"/>
            <a:ext cx="108204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数学思维 · 加减巧算与巧添符号</a:t>
            </a:r>
            <a:endParaRPr sz="1350" b="0">
              <a:solidFill>
                <a:srgbClr val="6477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609600" y="342900"/>
            <a:ext cx="99060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例题</a:t>
            </a:r>
            <a:endParaRPr sz="1575" b="1">
              <a:solidFill>
                <a:srgbClr val="126A7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049000" y="342900"/>
            <a:ext cx="619125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13</a:t>
            </a:r>
            <a:endParaRPr sz="1500" b="0">
              <a:solidFill>
                <a:srgbClr val="6477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990600"/>
            <a:ext cx="10953750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例题三｜长算式里的小循环</a:t>
            </a:r>
            <a:endParaRPr sz="3300" b="1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2171700"/>
            <a:ext cx="10820400" cy="37528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1 − 2 − 3 + 4 + 5 − 6 − 7 + 8</a:t>
            </a:r>
            <a:endParaRPr sz="28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+ ⋯ + 97 − 98 − 99 + 100</a:t>
            </a:r>
            <a:endParaRPr sz="28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endParaRPr sz="2850"/>
          </a:p>
          <a:p>
            <a: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不用逐项算。写出你的分组与分组理由。</a:t>
            </a:r>
            <a:endParaRPr sz="28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6286500"/>
            <a:ext cx="108204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先独立思考，再说明依据与检查过程。</a:t>
            </a:r>
            <a:endParaRPr sz="1350" b="0">
              <a:solidFill>
                <a:srgbClr val="6477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609600" y="342900"/>
            <a:ext cx="99060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分析</a:t>
            </a:r>
            <a:endParaRPr sz="1575" b="1">
              <a:solidFill>
                <a:srgbClr val="126A7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049000" y="342900"/>
            <a:ext cx="619125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14</a:t>
            </a:r>
            <a:endParaRPr sz="1500" b="0">
              <a:solidFill>
                <a:srgbClr val="6477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990600"/>
            <a:ext cx="10953750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四项一组，为什么都等于 0？</a:t>
            </a:r>
            <a:endParaRPr sz="3300" b="1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2171700"/>
            <a:ext cx="10820400" cy="37528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(1 − 2 − 3 + 4) = 0</a:t>
            </a:r>
            <a:endParaRPr sz="25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(5 − 6 − 7 + 8) = 0</a:t>
            </a:r>
            <a:endParaRPr sz="25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⋯</a:t>
            </a:r>
            <a:endParaRPr sz="25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(97 − 98 − 99 + 100) = 0</a:t>
            </a:r>
            <a:endParaRPr sz="25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endParaRPr sz="2550"/>
          </a:p>
          <a:p>
            <a: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每组两端的和 = 中间两数的和。</a:t>
            </a:r>
            <a:endParaRPr sz="25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6286500"/>
            <a:ext cx="108204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数学思维 · 加减巧算与巧添符号</a:t>
            </a:r>
            <a:endParaRPr sz="1350" b="0">
              <a:solidFill>
                <a:srgbClr val="6477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609600" y="342900"/>
            <a:ext cx="99060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独立题</a:t>
            </a:r>
            <a:endParaRPr sz="1575" b="1">
              <a:solidFill>
                <a:srgbClr val="126A7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049000" y="342900"/>
            <a:ext cx="619125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15</a:t>
            </a:r>
            <a:endParaRPr sz="1500" b="0">
              <a:solidFill>
                <a:srgbClr val="6477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990600"/>
            <a:ext cx="10953750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同一个规律，结尾变了</a:t>
            </a:r>
            <a:endParaRPr sz="3300" b="1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2171700"/>
            <a:ext cx="10820400" cy="37528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按相同符号规律继续：</a:t>
            </a:r>
            <a:endParaRPr sz="28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1 − 2 − 3 + 4 + ⋯ + 100 + 101</a:t>
            </a:r>
            <a:endParaRPr sz="28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endParaRPr sz="2850"/>
          </a:p>
          <a:p>
            <a: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原来的分组还能用吗？最后剩下什么？</a:t>
            </a:r>
            <a:endParaRPr sz="28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6286500"/>
            <a:ext cx="108204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先独立思考，再说明依据与检查过程。</a:t>
            </a:r>
            <a:endParaRPr sz="1350" b="0">
              <a:solidFill>
                <a:srgbClr val="6477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609600" y="342900"/>
            <a:ext cx="99060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反馈</a:t>
            </a:r>
            <a:endParaRPr sz="1575" b="1">
              <a:solidFill>
                <a:srgbClr val="126A7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049000" y="342900"/>
            <a:ext cx="619125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16</a:t>
            </a:r>
            <a:endParaRPr sz="1500" b="0">
              <a:solidFill>
                <a:srgbClr val="6477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990600"/>
            <a:ext cx="10953750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尾项必须单独处理</a:t>
            </a:r>
            <a:endParaRPr sz="3300" b="1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2171700"/>
            <a:ext cx="10820400" cy="37528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前 100 项：25 组，每组都是 0。</a:t>
            </a:r>
            <a:endParaRPr sz="25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最后剩下一项：101。</a:t>
            </a:r>
            <a:endParaRPr sz="25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endParaRPr sz="2550"/>
          </a:p>
          <a:p>
            <a: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整个算式的结果是 101。</a:t>
            </a:r>
            <a:endParaRPr sz="25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endParaRPr sz="2550"/>
          </a:p>
          <a:p>
            <a: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“每组为 0”不代表“整个式子一定为 0”。</a:t>
            </a:r>
            <a:endParaRPr sz="25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6286500"/>
            <a:ext cx="108204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数学思维 · 加减巧算与巧添符号</a:t>
            </a:r>
            <a:endParaRPr sz="1350" b="0">
              <a:solidFill>
                <a:srgbClr val="6477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609600" y="342900"/>
            <a:ext cx="99060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例题</a:t>
            </a:r>
            <a:endParaRPr sz="1575" b="1">
              <a:solidFill>
                <a:srgbClr val="126A7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049000" y="342900"/>
            <a:ext cx="619125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17</a:t>
            </a:r>
            <a:endParaRPr sz="1500" b="0">
              <a:solidFill>
                <a:srgbClr val="6477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990600"/>
            <a:ext cx="10953750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例题四｜只改一个加减号</a:t>
            </a:r>
            <a:endParaRPr sz="3300" b="1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2171700"/>
            <a:ext cx="10820400" cy="37528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7 + 6 + 5 − 4 − 3 + 2 − 1 = 18</a:t>
            </a:r>
            <a:endParaRPr sz="28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endParaRPr sz="2850"/>
          </a:p>
          <a:p>
            <a: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只把一个“＋”改成“−”，或把一个“−”改成“＋”。</a:t>
            </a:r>
            <a:endParaRPr sz="28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数字、顺序和其他符号都不改变。</a:t>
            </a:r>
            <a:endParaRPr sz="28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6286500"/>
            <a:ext cx="108204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先独立思考，再说明依据与检查过程。</a:t>
            </a:r>
            <a:endParaRPr sz="1350" b="0">
              <a:solidFill>
                <a:srgbClr val="6477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609600" y="342900"/>
            <a:ext cx="99060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分析</a:t>
            </a:r>
            <a:endParaRPr sz="1575" b="1">
              <a:solidFill>
                <a:srgbClr val="126A7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049000" y="342900"/>
            <a:ext cx="619125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18</a:t>
            </a:r>
            <a:endParaRPr sz="1500" b="0">
              <a:solidFill>
                <a:srgbClr val="6477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990600"/>
            <a:ext cx="10953750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为什么改“−3”会增加 6？</a:t>
            </a:r>
            <a:endParaRPr sz="3300" b="1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2171700"/>
            <a:ext cx="10820400" cy="37528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原来的结果：12；目标：18。</a:t>
            </a:r>
            <a:endParaRPr sz="25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需要增加：18 − 12 = 6。</a:t>
            </a:r>
            <a:endParaRPr sz="25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endParaRPr sz="2550"/>
          </a:p>
          <a:p>
            <a: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少减 3，同时又多加 3，共增加 6。</a:t>
            </a:r>
            <a:endParaRPr sz="25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7 + 6 + 5 − 4 + 3 + 2 − 1 = 18</a:t>
            </a:r>
            <a:endParaRPr sz="25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6286500"/>
            <a:ext cx="108204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数学思维 · 加减巧算与巧添符号</a:t>
            </a:r>
            <a:endParaRPr sz="1350" b="0">
              <a:solidFill>
                <a:srgbClr val="6477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609600" y="342900"/>
            <a:ext cx="99060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独立题</a:t>
            </a:r>
            <a:endParaRPr sz="1575" b="1">
              <a:solidFill>
                <a:srgbClr val="126A7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049000" y="342900"/>
            <a:ext cx="619125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19</a:t>
            </a:r>
            <a:endParaRPr sz="1500" b="0">
              <a:solidFill>
                <a:srgbClr val="6477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990600"/>
            <a:ext cx="10953750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符号变化的边界</a:t>
            </a:r>
            <a:endParaRPr sz="3300" b="1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2171700"/>
            <a:ext cx="10820400" cy="37528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原式：7 + 6 + 5 − 4 − 3 + 2 − 1</a:t>
            </a:r>
            <a:endParaRPr sz="25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endParaRPr sz="2550"/>
          </a:p>
          <a:p>
            <a: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只改一个加减号，能得到 17 吗？</a:t>
            </a:r>
            <a:endParaRPr sz="25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endParaRPr sz="2550"/>
          </a:p>
          <a:p>
            <a: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请说明“不可能”的理由。</a:t>
            </a:r>
            <a:endParaRPr sz="25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6286500"/>
            <a:ext cx="108204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先独立思考，再说明依据与检查过程。</a:t>
            </a:r>
            <a:endParaRPr sz="1350" b="0">
              <a:solidFill>
                <a:srgbClr val="6477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609600" y="342900"/>
            <a:ext cx="99060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反馈</a:t>
            </a:r>
            <a:endParaRPr sz="1575" b="1">
              <a:solidFill>
                <a:srgbClr val="126A7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049000" y="342900"/>
            <a:ext cx="619125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20</a:t>
            </a:r>
            <a:endParaRPr sz="1500" b="0">
              <a:solidFill>
                <a:srgbClr val="6477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990600"/>
            <a:ext cx="10953750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排除也需要证据</a:t>
            </a:r>
            <a:endParaRPr sz="3300" b="1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2171700"/>
            <a:ext cx="10820400" cy="37528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改“−某数”为“＋某数”：增加两个这个数。</a:t>
            </a:r>
            <a:endParaRPr sz="25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改“＋某数”为“−某数”：减少两个这个数。</a:t>
            </a:r>
            <a:endParaRPr sz="25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endParaRPr sz="2550"/>
          </a:p>
          <a:p>
            <a: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变化量一定是偶数。</a:t>
            </a:r>
            <a:endParaRPr sz="25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17 − 12 = 5，是奇数，所以不可能。</a:t>
            </a:r>
            <a:endParaRPr sz="25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6286500"/>
            <a:ext cx="108204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数学思维 · 加减巧算与巧添符号</a:t>
            </a:r>
            <a:endParaRPr sz="1350" b="0">
              <a:solidFill>
                <a:srgbClr val="6477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609600" y="342900"/>
            <a:ext cx="99060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挑战题</a:t>
            </a:r>
            <a:endParaRPr sz="1575" b="1">
              <a:solidFill>
                <a:srgbClr val="126A7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049000" y="342900"/>
            <a:ext cx="619125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21</a:t>
            </a:r>
            <a:endParaRPr sz="1500" b="0">
              <a:solidFill>
                <a:srgbClr val="6477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990600"/>
            <a:ext cx="10953750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改成乘号｜变化量还会一样吗？</a:t>
            </a:r>
            <a:endParaRPr sz="3300" b="1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2171700"/>
            <a:ext cx="10820400" cy="37528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 + 2 + 3 + 4 + 5 + 6 + 7 + 8 = 65</a:t>
            </a:r>
            <a:endParaRPr sz="28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endParaRPr sz="2850"/>
          </a:p>
          <a:p>
            <a: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只把一个“＋”改成“×”，不加括号。</a:t>
            </a:r>
            <a:endParaRPr sz="28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哪一个位置能让等式成立？</a:t>
            </a:r>
            <a:endParaRPr sz="28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6286500"/>
            <a:ext cx="108204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数学思维 · 加减巧算与巧添符号</a:t>
            </a:r>
            <a:endParaRPr sz="1350" b="0">
              <a:solidFill>
                <a:srgbClr val="6477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609600" y="342900"/>
            <a:ext cx="99060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反馈</a:t>
            </a:r>
            <a:endParaRPr sz="1575" b="1">
              <a:solidFill>
                <a:srgbClr val="126A7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049000" y="342900"/>
            <a:ext cx="619125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22</a:t>
            </a:r>
            <a:endParaRPr sz="1500" b="0">
              <a:solidFill>
                <a:srgbClr val="6477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990600"/>
            <a:ext cx="10953750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比较替换前后的贡献</a:t>
            </a:r>
            <a:endParaRPr sz="3300" b="1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2171700"/>
            <a:ext cx="10820400" cy="37528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目标比原来的 36 多 29。</a:t>
            </a:r>
            <a:endParaRPr sz="25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6 × 7 − (6 + 7) = 42 − 13 = 29</a:t>
            </a:r>
            <a:endParaRPr sz="25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endParaRPr sz="2550"/>
          </a:p>
          <a:p>
            <a: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 + 2 + 3 + 4 + 5 + 6 × 7 + 8 = 65</a:t>
            </a:r>
            <a:endParaRPr sz="25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endParaRPr sz="2550"/>
          </a:p>
          <a:p>
            <a: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只改符号时，也要重新检查运算顺序。</a:t>
            </a:r>
            <a:endParaRPr sz="25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6286500"/>
            <a:ext cx="108204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数学思维 · 加减巧算与巧添符号</a:t>
            </a:r>
            <a:endParaRPr sz="1350" b="0">
              <a:solidFill>
                <a:srgbClr val="6477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609600" y="342900"/>
            <a:ext cx="99060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例题</a:t>
            </a:r>
            <a:endParaRPr sz="1575" b="1">
              <a:solidFill>
                <a:srgbClr val="126A7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049000" y="342900"/>
            <a:ext cx="619125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23</a:t>
            </a:r>
            <a:endParaRPr sz="1500" b="0">
              <a:solidFill>
                <a:srgbClr val="6477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990600"/>
            <a:ext cx="10953750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例题五｜从 10 倒着构造</a:t>
            </a:r>
            <a:endParaRPr sz="3300" b="1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2171700"/>
            <a:ext cx="10820400" cy="37528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　2　3　4　5 = 10</a:t>
            </a:r>
            <a:endParaRPr sz="28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endParaRPr sz="2850"/>
          </a:p>
          <a:p>
            <a: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数字顺序固定，每个数字恰好用一次。</a:t>
            </a:r>
            <a:endParaRPr sz="28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可添 ＋、−、×、÷ 和括号；不能拼成多位数。</a:t>
            </a:r>
            <a:endParaRPr sz="28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6286500"/>
            <a:ext cx="108204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先独立思考，再说明依据与检查过程。</a:t>
            </a:r>
            <a:endParaRPr sz="1350" b="0">
              <a:solidFill>
                <a:srgbClr val="6477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609600" y="342900"/>
            <a:ext cx="99060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分析</a:t>
            </a:r>
            <a:endParaRPr sz="1575" b="1">
              <a:solidFill>
                <a:srgbClr val="126A7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049000" y="342900"/>
            <a:ext cx="619125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24</a:t>
            </a:r>
            <a:endParaRPr sz="1500" b="0">
              <a:solidFill>
                <a:srgbClr val="6477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990600"/>
            <a:ext cx="10953750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先选一种末步，再解决小目标</a:t>
            </a:r>
            <a:endParaRPr sz="3300" b="1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2171700"/>
            <a:ext cx="10820400" cy="37528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如果让最后一步是“某个数 × 5 = 10”，</a:t>
            </a:r>
            <a:endParaRPr sz="25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前面的 1、2、3、4 就需要凑成 2。</a:t>
            </a:r>
            <a:endParaRPr sz="25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endParaRPr sz="2550"/>
          </a:p>
          <a:p>
            <a: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 + 2 + 3 − 4 = 2</a:t>
            </a:r>
            <a:endParaRPr sz="25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所以 (1 + 2 + 3 − 4) × 5 = 10</a:t>
            </a:r>
            <a:endParaRPr sz="25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6286500"/>
            <a:ext cx="108204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数学思维 · 加减巧算与巧添符号</a:t>
            </a:r>
            <a:endParaRPr sz="1350" b="0">
              <a:solidFill>
                <a:srgbClr val="6477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609600" y="342900"/>
            <a:ext cx="99060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比较</a:t>
            </a:r>
            <a:endParaRPr sz="1575" b="1">
              <a:solidFill>
                <a:srgbClr val="126A7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049000" y="342900"/>
            <a:ext cx="619125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25</a:t>
            </a:r>
            <a:endParaRPr sz="1500" b="0">
              <a:solidFill>
                <a:srgbClr val="6477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990600"/>
            <a:ext cx="10953750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不同的末步，同样的目标</a:t>
            </a:r>
            <a:endParaRPr sz="3300" b="1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2171700"/>
            <a:ext cx="10820400" cy="37528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(1 + 2) × 3 − 4 + 5 = 10</a:t>
            </a:r>
            <a:endParaRPr sz="25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 + 2 + 3 × 4 − 5 = 10</a:t>
            </a:r>
            <a:endParaRPr sz="25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(1 + 2 + 3 − 4) × 5 = 10</a:t>
            </a:r>
            <a:endParaRPr sz="25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endParaRPr sz="2550"/>
          </a:p>
          <a:p>
            <a: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分别说出最后一步运算，并检验每个数字的使用次数。</a:t>
            </a:r>
            <a:endParaRPr sz="25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6286500"/>
            <a:ext cx="108204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数学思维 · 加减巧算与巧添符号</a:t>
            </a:r>
            <a:endParaRPr sz="1350" b="0">
              <a:solidFill>
                <a:srgbClr val="6477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609600" y="342900"/>
            <a:ext cx="99060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独立题</a:t>
            </a:r>
            <a:endParaRPr sz="1575" b="1">
              <a:solidFill>
                <a:srgbClr val="126A7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049000" y="342900"/>
            <a:ext cx="619125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26</a:t>
            </a:r>
            <a:endParaRPr sz="1500" b="0">
              <a:solidFill>
                <a:srgbClr val="6477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990600"/>
            <a:ext cx="10953750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固定顺序的加减号</a:t>
            </a:r>
            <a:endParaRPr sz="3300" b="1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2171700"/>
            <a:ext cx="10820400" cy="37528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9　8　7　6　5　4　3　2　1 = 29</a:t>
            </a:r>
            <a:endParaRPr sz="28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endParaRPr sz="2850"/>
          </a:p>
          <a:p>
            <a: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每个空隙都填“＋”或“−”。</a:t>
            </a:r>
            <a:endParaRPr sz="28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顺序不变，不加括号、不拼数，首个 9 前不加符号。</a:t>
            </a:r>
            <a:endParaRPr sz="28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6286500"/>
            <a:ext cx="108204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先独立思考，再说明依据与检查过程。</a:t>
            </a:r>
            <a:endParaRPr sz="1350" b="0">
              <a:solidFill>
                <a:srgbClr val="6477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609600" y="342900"/>
            <a:ext cx="99060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反馈</a:t>
            </a:r>
            <a:endParaRPr sz="1575" b="1">
              <a:solidFill>
                <a:srgbClr val="126A7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049000" y="342900"/>
            <a:ext cx="619125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27</a:t>
            </a:r>
            <a:endParaRPr sz="1500" b="0">
              <a:solidFill>
                <a:srgbClr val="6477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990600"/>
            <a:ext cx="10953750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先全加，再决定减掉谁</a:t>
            </a:r>
            <a:endParaRPr sz="3300" b="1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2171700"/>
            <a:ext cx="10820400" cy="37528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全部相加得到 45，要变成 29，需要减少 16。</a:t>
            </a:r>
            <a:endParaRPr sz="25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把“＋8”改成“−8”，恰好减少 16。</a:t>
            </a:r>
            <a:endParaRPr sz="25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endParaRPr sz="2550"/>
          </a:p>
          <a:p>
            <a: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9 − 8 + 7 + 6 + 5 + 4 + 3 + 2 + 1 = 29</a:t>
            </a:r>
            <a:endParaRPr sz="25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endParaRPr sz="2550"/>
          </a:p>
          <a:p>
            <a: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还可以把哪些数的加号改成减号？</a:t>
            </a:r>
            <a:endParaRPr sz="25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6286500"/>
            <a:ext cx="108204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数学思维 · 加减巧算与巧添符号</a:t>
            </a:r>
            <a:endParaRPr sz="1350" b="0">
              <a:solidFill>
                <a:srgbClr val="6477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609600" y="342900"/>
            <a:ext cx="99060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例题</a:t>
            </a:r>
            <a:endParaRPr sz="1575" b="1">
              <a:solidFill>
                <a:srgbClr val="126A7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049000" y="342900"/>
            <a:ext cx="619125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28</a:t>
            </a:r>
            <a:endParaRPr sz="1500" b="0">
              <a:solidFill>
                <a:srgbClr val="6477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990600"/>
            <a:ext cx="10953750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例题六｜24 点的目标拆分</a:t>
            </a:r>
            <a:endParaRPr sz="3300" b="1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2171700"/>
            <a:ext cx="10820400" cy="37528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4　5　9　10</a:t>
            </a:r>
            <a:endParaRPr sz="25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endParaRPr sz="2550"/>
          </a:p>
          <a:p>
            <a: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每个数恰好用一次，顺序可以调整。</a:t>
            </a:r>
            <a:endParaRPr sz="25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可用 ＋、−、×、÷ 和括号；不能拼数。</a:t>
            </a:r>
            <a:endParaRPr sz="25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请构造得数为 24 的算式。</a:t>
            </a:r>
            <a:endParaRPr sz="25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6286500"/>
            <a:ext cx="108204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先独立思考，再说明依据与检查过程。</a:t>
            </a:r>
            <a:endParaRPr sz="1350" b="0">
              <a:solidFill>
                <a:srgbClr val="6477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609600" y="342900"/>
            <a:ext cx="99060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分析</a:t>
            </a:r>
            <a:endParaRPr sz="1575" b="1">
              <a:solidFill>
                <a:srgbClr val="126A7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049000" y="342900"/>
            <a:ext cx="619125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29</a:t>
            </a:r>
            <a:endParaRPr sz="1500" b="0">
              <a:solidFill>
                <a:srgbClr val="6477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990600"/>
            <a:ext cx="10953750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先保留 4，再把其余数凑成 6</a:t>
            </a:r>
            <a:endParaRPr sz="3300" b="1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2171700"/>
            <a:ext cx="10820400" cy="37528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24 = 4 × 6</a:t>
            </a:r>
            <a:endParaRPr sz="25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剩下的 5、9、10：10 + 5 − 9 = 6。</a:t>
            </a:r>
            <a:endParaRPr sz="25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endParaRPr sz="2550"/>
          </a:p>
          <a:p>
            <a: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4 × (10 + 5 − 9) = 24</a:t>
            </a:r>
            <a:endParaRPr sz="25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endParaRPr sz="2550"/>
          </a:p>
          <a:p>
            <a: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检查：四个数各用一次，括号内先算。</a:t>
            </a:r>
            <a:endParaRPr sz="25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6286500"/>
            <a:ext cx="108204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数学思维 · 加减巧算与巧添符号</a:t>
            </a:r>
            <a:endParaRPr sz="1350" b="0">
              <a:solidFill>
                <a:srgbClr val="6477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609600" y="342900"/>
            <a:ext cx="99060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独立题</a:t>
            </a:r>
            <a:endParaRPr sz="1575" b="1">
              <a:solidFill>
                <a:srgbClr val="126A7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049000" y="342900"/>
            <a:ext cx="619125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30</a:t>
            </a:r>
            <a:endParaRPr sz="1500" b="0">
              <a:solidFill>
                <a:srgbClr val="6477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990600"/>
            <a:ext cx="10953750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24 点迁移｜换一条路</a:t>
            </a:r>
            <a:endParaRPr sz="3300" b="1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2171700"/>
            <a:ext cx="10820400" cy="37528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8　6　4　2</a:t>
            </a:r>
            <a:endParaRPr sz="28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endParaRPr sz="2850"/>
          </a:p>
          <a:p>
            <a: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四个数各用一次，可以调整顺序，不能拼数。</a:t>
            </a:r>
            <a:endParaRPr sz="28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写出一种得 24 的算式，并说明你怎样拆分目标。</a:t>
            </a:r>
            <a:endParaRPr sz="28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6286500"/>
            <a:ext cx="108204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先独立思考，再说明依据与检查过程。</a:t>
            </a:r>
            <a:endParaRPr sz="1350" b="0">
              <a:solidFill>
                <a:srgbClr val="6477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609600" y="342900"/>
            <a:ext cx="99060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反馈</a:t>
            </a:r>
            <a:endParaRPr sz="1575" b="1">
              <a:solidFill>
                <a:srgbClr val="126A7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049000" y="342900"/>
            <a:ext cx="619125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31</a:t>
            </a:r>
            <a:endParaRPr sz="1500" b="0">
              <a:solidFill>
                <a:srgbClr val="6477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990600"/>
            <a:ext cx="10953750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乘除也能共同构造 24</a:t>
            </a:r>
            <a:endParaRPr sz="3300" b="1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2171700"/>
            <a:ext cx="10820400" cy="37528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8 × 6 ÷ (4 − 2) = 48 ÷ 2 = 24</a:t>
            </a:r>
            <a:endParaRPr sz="28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endParaRPr sz="2850"/>
          </a:p>
          <a:p>
            <a: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另一条路：6 × (8 − 4) × (2 ÷ 2)？</a:t>
            </a:r>
            <a:endParaRPr sz="28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这个算式符合规则吗？</a:t>
            </a:r>
            <a:endParaRPr sz="28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6286500"/>
            <a:ext cx="108204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数学思维 · 加减巧算与巧添符号</a:t>
            </a:r>
            <a:endParaRPr sz="1350" b="0">
              <a:solidFill>
                <a:srgbClr val="6477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609600" y="342900"/>
            <a:ext cx="99060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检测</a:t>
            </a:r>
            <a:endParaRPr sz="1575" b="1">
              <a:solidFill>
                <a:srgbClr val="126A7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049000" y="342900"/>
            <a:ext cx="619125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32</a:t>
            </a:r>
            <a:endParaRPr sz="1500" b="0">
              <a:solidFill>
                <a:srgbClr val="6477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990600"/>
            <a:ext cx="10953750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独立检测｜方法选择</a:t>
            </a:r>
            <a:endParaRPr sz="3300" b="1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2171700"/>
            <a:ext cx="10820400" cy="37528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① 662 − (127 + 162) − 273</a:t>
            </a:r>
            <a:endParaRPr sz="25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② 同样符号规律：1 − 2 − 3 + 4 + ⋯ + 100</a:t>
            </a:r>
            <a:endParaRPr sz="25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③ 1 + 2 + 3 + 4 + 5 + 6 + 7 + 8 + 9 = 86</a:t>
            </a:r>
            <a:endParaRPr sz="25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endParaRPr sz="2550"/>
          </a:p>
          <a:p>
            <a: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第③题只改一个“＋”为“×”；均写理由和检验。</a:t>
            </a:r>
            <a:endParaRPr sz="25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6286500"/>
            <a:ext cx="108204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先独立思考，再说明依据与检查过程。</a:t>
            </a:r>
            <a:endParaRPr sz="1350" b="0">
              <a:solidFill>
                <a:srgbClr val="6477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535805" y="44989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609600" y="342900"/>
            <a:ext cx="99060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检测</a:t>
            </a:r>
            <a:endParaRPr sz="1575" b="1">
              <a:solidFill>
                <a:srgbClr val="126A7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049000" y="342900"/>
            <a:ext cx="619125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33</a:t>
            </a:r>
            <a:endParaRPr sz="1500" b="0">
              <a:solidFill>
                <a:srgbClr val="6477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990600"/>
            <a:ext cx="10953750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独立检测｜构造与排除</a:t>
            </a:r>
            <a:endParaRPr sz="3300" b="1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2171700"/>
            <a:ext cx="10820400" cy="37528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④ 用 2、2、4、8 算 24：各用一次，可换顺序，不拼数。</a:t>
            </a:r>
            <a:endParaRPr sz="25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⑤ 9　8　7　6　5　4　3　2　1 = 28</a:t>
            </a:r>
            <a:endParaRPr sz="25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endParaRPr sz="2550"/>
          </a:p>
          <a:p>
            <a: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第⑤题每个空隙只填加减号，首个9不添符号；</a:t>
            </a:r>
            <a:endParaRPr sz="25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判断是否有解，并说明依据。</a:t>
            </a:r>
            <a:endParaRPr sz="25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6286500"/>
            <a:ext cx="108204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先独立思考，再说明依据与检查过程。</a:t>
            </a:r>
            <a:endParaRPr sz="1350" b="0">
              <a:solidFill>
                <a:srgbClr val="6477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609600" y="342900"/>
            <a:ext cx="99060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反馈</a:t>
            </a:r>
            <a:endParaRPr sz="1575" b="1">
              <a:solidFill>
                <a:srgbClr val="126A7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049000" y="342900"/>
            <a:ext cx="619125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34</a:t>
            </a:r>
            <a:endParaRPr sz="1500" b="0">
              <a:solidFill>
                <a:srgbClr val="6477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990600"/>
            <a:ext cx="10953750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检测反馈｜结构、差量与边界</a:t>
            </a:r>
            <a:endParaRPr sz="3300" b="1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2171700"/>
            <a:ext cx="10820400" cy="37528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① (662 − 162) − (127 + 273) = 100</a:t>
            </a:r>
            <a:endParaRPr sz="28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② 每四项为 0，共 25 组，结果是 0。</a:t>
            </a:r>
            <a:endParaRPr sz="28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③ 原和 45，需增加 41；7 × 8 − (7 + 8) = 41。</a:t>
            </a:r>
            <a:endParaRPr sz="28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  1 + 2 + 3 + 4 + 5 + 6 + 7 × 8 + 9 = 86</a:t>
            </a:r>
            <a:endParaRPr sz="28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6286500"/>
            <a:ext cx="108204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数学思维 · 加减巧算与巧添符号</a:t>
            </a:r>
            <a:endParaRPr sz="1350" b="0">
              <a:solidFill>
                <a:srgbClr val="6477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609600" y="342900"/>
            <a:ext cx="99060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反馈</a:t>
            </a:r>
            <a:endParaRPr sz="1575" b="1">
              <a:solidFill>
                <a:srgbClr val="126A7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049000" y="342900"/>
            <a:ext cx="619125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35</a:t>
            </a:r>
            <a:endParaRPr sz="1500" b="0">
              <a:solidFill>
                <a:srgbClr val="6477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990600"/>
            <a:ext cx="10953750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检测反馈｜答案还要符合规则</a:t>
            </a:r>
            <a:endParaRPr sz="3300" b="1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2171700"/>
            <a:ext cx="10820400" cy="37528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④ 8 + 4 × (2 + 2) = 24</a:t>
            </a:r>
            <a:endParaRPr sz="25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⑤ 全加为 45；每次翻转加减号，都改变一个偶数。</a:t>
            </a:r>
            <a:endParaRPr sz="25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  45 − 28 = 17 是奇数，所以无解。</a:t>
            </a:r>
            <a:endParaRPr sz="25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endParaRPr sz="2550"/>
          </a:p>
          <a:p>
            <a: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得数正确、数字用对、规则满足，缺一不可。</a:t>
            </a:r>
            <a:endParaRPr sz="25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6286500"/>
            <a:ext cx="108204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数学思维 · 加减巧算与巧添符号</a:t>
            </a:r>
            <a:endParaRPr sz="1350" b="0">
              <a:solidFill>
                <a:srgbClr val="6477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609600" y="342900"/>
            <a:ext cx="99060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回顾</a:t>
            </a:r>
            <a:endParaRPr sz="1575" b="1">
              <a:solidFill>
                <a:srgbClr val="126A7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049000" y="342900"/>
            <a:ext cx="619125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36</a:t>
            </a:r>
            <a:endParaRPr sz="1500" b="0">
              <a:solidFill>
                <a:srgbClr val="6477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990600"/>
            <a:ext cx="10953750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本课方法回收</a:t>
            </a:r>
            <a:endParaRPr sz="3300" b="1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2171700"/>
            <a:ext cx="10820400" cy="37528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括号：先多减了多少，就加回多少。</a:t>
            </a:r>
            <a:endParaRPr sz="25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补偿：逐项看清多了多少、少了多少。</a:t>
            </a:r>
            <a:endParaRPr sz="25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周期：解释每组的结果，再检查尾项。</a:t>
            </a:r>
            <a:endParaRPr sz="25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改符号：比较变化前后的贡献。</a:t>
            </a:r>
            <a:endParaRPr sz="25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构造：从目标倒推，同时检查使用规则。</a:t>
            </a:r>
            <a:endParaRPr sz="25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6286500"/>
            <a:ext cx="108204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数学思维 · 加减巧算与巧添符号</a:t>
            </a:r>
            <a:endParaRPr sz="1350" b="0">
              <a:solidFill>
                <a:srgbClr val="6477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609600" y="342900"/>
            <a:ext cx="99060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预热</a:t>
            </a:r>
            <a:endParaRPr sz="1575" b="1">
              <a:solidFill>
                <a:srgbClr val="126A7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049000" y="342900"/>
            <a:ext cx="619125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37</a:t>
            </a:r>
            <a:endParaRPr sz="1500" b="0">
              <a:solidFill>
                <a:srgbClr val="6477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990600"/>
            <a:ext cx="10953750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课末预热｜带条件的填数</a:t>
            </a:r>
            <a:endParaRPr sz="3300" b="1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2171700"/>
            <a:ext cx="10820400" cy="37528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把 3、4、5、6、7 各用一次填入方框：</a:t>
            </a:r>
            <a:endParaRPr sz="28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(□ − □) × □ + □ ÷ □ = 10</a:t>
            </a:r>
            <a:endParaRPr sz="28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endParaRPr sz="2850"/>
          </a:p>
          <a:p>
            <a: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只记录：你会先检查哪一部分？为什么？</a:t>
            </a:r>
            <a:endParaRPr sz="28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6286500"/>
            <a:ext cx="108204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数学思维 · 加减巧算与巧添符号</a:t>
            </a:r>
            <a:endParaRPr sz="1350" b="0">
              <a:solidFill>
                <a:srgbClr val="6477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609600" y="342900"/>
            <a:ext cx="99060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选做</a:t>
            </a:r>
            <a:endParaRPr sz="1575" b="1">
              <a:solidFill>
                <a:srgbClr val="126A7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049000" y="342900"/>
            <a:ext cx="619125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38</a:t>
            </a:r>
            <a:endParaRPr sz="1500" b="0">
              <a:solidFill>
                <a:srgbClr val="6477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990600"/>
            <a:ext cx="10953750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选做｜允许拼数之后</a:t>
            </a:r>
            <a:endParaRPr sz="3300" b="1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2171700"/>
            <a:ext cx="10820400" cy="37528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7　6　5　4　3　2　1 = 64</a:t>
            </a:r>
            <a:endParaRPr sz="28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endParaRPr sz="2850"/>
          </a:p>
          <a:p>
            <a: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顺序固定，只添加减号；这次允许相邻数字拼成多位数。</a:t>
            </a:r>
            <a:endParaRPr sz="28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def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8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请解释拼接怎样改变总量。</a:t>
            </a:r>
            <a:endParaRPr sz="28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6286500"/>
            <a:ext cx="108204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数学思维 · 加减巧算与巧添符号</a:t>
            </a:r>
            <a:endParaRPr sz="1350" b="0">
              <a:solidFill>
                <a:srgbClr val="6477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609600" y="342900"/>
            <a:ext cx="99060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反馈</a:t>
            </a:r>
            <a:endParaRPr sz="1575" b="1">
              <a:solidFill>
                <a:srgbClr val="126A7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049000" y="342900"/>
            <a:ext cx="619125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39</a:t>
            </a:r>
            <a:endParaRPr sz="1500" b="0">
              <a:solidFill>
                <a:srgbClr val="6477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990600"/>
            <a:ext cx="10953750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选做反馈｜拼接也是一种变化</a:t>
            </a:r>
            <a:endParaRPr sz="3300" b="1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2171700"/>
            <a:ext cx="10820400" cy="37528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全部相加为 28，离 64 还差 36。</a:t>
            </a:r>
            <a:endParaRPr sz="25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把 4 和 3 拼成 43：43 − (4 + 3) = 36。</a:t>
            </a:r>
            <a:endParaRPr sz="25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endParaRPr sz="2550"/>
          </a:p>
          <a:p>
            <a: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7 + 6 + 5 + 43 + 2 + 1 = 64</a:t>
            </a:r>
            <a:endParaRPr sz="25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endParaRPr sz="2550"/>
          </a:p>
          <a:p>
            <a: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规则改变后，原来的“不可能”判断要重新检查。</a:t>
            </a:r>
            <a:endParaRPr sz="25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6286500"/>
            <a:ext cx="108204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数学思维 · 加减巧算与巧添符号</a:t>
            </a:r>
            <a:endParaRPr sz="1350" b="0">
              <a:solidFill>
                <a:srgbClr val="6477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609600" y="342900"/>
            <a:ext cx="99060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126A7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课后题</a:t>
            </a:r>
            <a:endParaRPr sz="1575" b="1">
              <a:solidFill>
                <a:srgbClr val="126A7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049000" y="342900"/>
            <a:ext cx="619125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40</a:t>
            </a:r>
            <a:endParaRPr sz="1500" b="0">
              <a:solidFill>
                <a:srgbClr val="6477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990600"/>
            <a:ext cx="10953750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300" b="1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课后微练习｜隔天独立回想</a:t>
            </a:r>
            <a:endParaRPr sz="3300" b="1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2171700"/>
            <a:ext cx="10820400" cy="37528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① 424 − (121 − 76)，写出关键变形依据。</a:t>
            </a:r>
            <a:endParaRPr sz="25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② 1　2　3　4　5 = 20</a:t>
            </a:r>
            <a:endParaRPr sz="25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  顺序固定，各用一次，可添四则符号和括号，不拼数。</a:t>
            </a:r>
            <a:endParaRPr sz="25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endParaRPr sz="2550"/>
          </a:p>
          <a:p>
            <a:pPr>
              <a:def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0">
                <a:solidFill>
                  <a:srgbClr val="20374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先独立做，再向老师说明思路；有疑问可以继续问。</a:t>
            </a:r>
            <a:endParaRPr sz="2550" b="0">
              <a:solidFill>
                <a:srgbClr val="20374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6286500"/>
            <a:ext cx="108204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6477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数学思维 · 加减巧算与巧添符号</a:t>
            </a:r>
            <a:endParaRPr sz="1350" b="0">
              <a:solidFill>
                <a:srgbClr val="6477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4172</Words>
  <Application>WPS 演示</Application>
  <PresentationFormat>Converted Presentation</PresentationFormat>
  <Paragraphs>547</Paragraphs>
  <Slides>40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40</vt:i4>
      </vt:variant>
    </vt:vector>
  </HeadingPairs>
  <TitlesOfParts>
    <vt:vector size="53" baseType="lpstr">
      <vt:lpstr>Arial</vt:lpstr>
      <vt:lpstr>宋体</vt:lpstr>
      <vt:lpstr>Wingdings</vt:lpstr>
      <vt:lpstr>PingFang SC</vt:lpstr>
      <vt:lpstr>微软雅黑</vt:lpstr>
      <vt:lpstr>汉仪旗黑</vt:lpstr>
      <vt:lpstr>宋体</vt:lpstr>
      <vt:lpstr>Arial Unicode MS</vt:lpstr>
      <vt:lpstr>汉仪书宋二KW</vt:lpstr>
      <vt:lpstr>Aptos</vt:lpstr>
      <vt:lpstr>Helvetica Neue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xiao_mo</cp:lastModifiedBy>
  <cp:revision>1</cp:revision>
  <dcterms:created xsi:type="dcterms:W3CDTF">2026-10-27T12:20:42Z</dcterms:created>
  <dcterms:modified xsi:type="dcterms:W3CDTF">2026-10-27T12:20:42Z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2052-12.1.25895.25895</vt:lpwstr>
  </property>
  <property fmtid="{D5CDD505-2E9C-101B-9397-08002B2CF9AE}" pid="3" name="ICV">
    <vt:lpwstr>A9BC5A645A93CBE21A97E06A27673586_42</vt:lpwstr>
  </property>
</Properties>
</file>