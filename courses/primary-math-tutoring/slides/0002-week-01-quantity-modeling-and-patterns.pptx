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1143000" cy="365760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13232"/>
            <a:ext cx="10058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数学任务卡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98755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1F3440"/>
                </a:solidFill>
                <a:latin typeface="Arial"/>
              </a:rPr>
              <a:t>看见关系，发现规律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0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60727B"/>
                </a:solidFill>
                <a:latin typeface="Arial"/>
              </a:rPr>
              <a:t>第 1 周｜两次课合并教学 PPT</a:t>
            </a:r>
          </a:p>
        </p:txBody>
      </p:sp>
      <p:sp>
        <p:nvSpPr>
          <p:cNvPr id="7" name="Oval 6"/>
          <p:cNvSpPr/>
          <p:nvPr/>
        </p:nvSpPr>
        <p:spPr>
          <a:xfrm>
            <a:off x="9646920" y="1371600"/>
            <a:ext cx="1325880" cy="1325880"/>
          </a:xfrm>
          <a:prstGeom prst="ellipse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69880" y="2514600"/>
            <a:ext cx="685800" cy="685800"/>
          </a:xfrm>
          <a:prstGeom prst="ellipse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15400" y="3246120"/>
            <a:ext cx="475488" cy="475488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120640"/>
            <a:ext cx="52120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先想一想，再说一说；
先看关系，再动笔算。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80760"/>
            <a:ext cx="39319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0727B"/>
                </a:solidFill>
                <a:latin typeface="Arial"/>
              </a:rPr>
              <a:t>教师版｜两次课合并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本周路线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6400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440"/>
                </a:solidFill>
                <a:latin typeface="Arial"/>
              </a:rPr>
              <a:t>本周有两张任务卡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983480" cy="22860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" cy="228600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9968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任务 A｜看见关系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4544568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把两次购买放在一起看：
哪些量相同？多出的 12 元表示什么？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4983480" cy="228600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828800"/>
            <a:ext cx="64008" cy="228600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29968"/>
            <a:ext cx="4572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任务 B｜发现规律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87168"/>
            <a:ext cx="4544568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不只说“我看出来了”：
要描述变化、提出猜想，再验证。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每次课都留下一个出口题：它决定下次课怎样调难度。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课内提升｜8 分钟关键复习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371600" cy="338328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987552"/>
            <a:ext cx="122529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先复习，再挑战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440"/>
                </a:solidFill>
                <a:latin typeface="Arial"/>
              </a:rPr>
              <a:t>两道小题：运算顺序决定关系顺序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420624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331720"/>
            <a:ext cx="64008" cy="15087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532888"/>
            <a:ext cx="3794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复习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990087"/>
            <a:ext cx="3767327" cy="685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18 − 3 × 4 = ____
先算哪一步？为什么？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331720"/>
            <a:ext cx="4206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331720"/>
            <a:ext cx="64008" cy="15087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532888"/>
            <a:ext cx="3794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复习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90087"/>
            <a:ext cx="3767327" cy="6857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36 ÷ 4 + 7 = ____
算完后怎样检验？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6A70"/>
                </a:solidFill>
                <a:latin typeface="Arial"/>
              </a:rPr>
              <a:t>答案：6，16。今天的难题也要先把关系对齐，再计算。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课内主例题｜完整题干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87552"/>
            <a:ext cx="103327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校内拓展例题：两种买法，怎样消去一个未知量？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4434840" cy="20116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64008" cy="20116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4023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购买 A｜27 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3995927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3 本练习本
+ 2 支签字笔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4434840" cy="20116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828800"/>
            <a:ext cx="64008" cy="20116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29968"/>
            <a:ext cx="40233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购买 B｜35 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87168"/>
            <a:ext cx="3995927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1 本练习本
+ 5 支签字笔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9144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6A70"/>
                </a:solidFill>
                <a:latin typeface="Arial"/>
              </a:rPr>
              <a:t>求：一本练习本和一支签字笔各多少元？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4498848"/>
            <a:ext cx="1508760" cy="338328"/>
          </a:xfrm>
          <a:prstGeom prst="roundRect">
            <a:avLst/>
          </a:prstGeom>
          <a:solidFill>
            <a:srgbClr val="EFF3F1"/>
          </a:solidFill>
          <a:ln>
            <a:solidFill>
              <a:srgbClr val="EF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4572000"/>
            <a:ext cx="13624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26A70"/>
                </a:solidFill>
                <a:latin typeface="Arial"/>
              </a:rPr>
              <a:t>独立想 2 分钟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课内主例题｜建模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10241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先把两次购买里的“练习本数量”变得一样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3063240" cy="16916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64008" cy="16916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67128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购买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24328"/>
            <a:ext cx="26243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3 本练习本
+ 2 支笔 = 27 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65960"/>
            <a:ext cx="30632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965960"/>
            <a:ext cx="64008" cy="16916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167128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购买 B 的 3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24328"/>
            <a:ext cx="26243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3 本练习本
+ 15 支笔 = 105 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965960"/>
            <a:ext cx="3063240" cy="16916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965960"/>
            <a:ext cx="64008" cy="16916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167128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现在可比较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24328"/>
            <a:ext cx="262432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练习本相同
只剩 13 支笔的价钱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10149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6A70"/>
                </a:solidFill>
                <a:latin typeface="Arial"/>
              </a:rPr>
              <a:t>建模关键：不是直接相减，而是先把一个数量对齐。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课内主例题｜关键突破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9784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3440"/>
                </a:solidFill>
                <a:latin typeface="Arial"/>
              </a:rPr>
              <a:t>为什么先把购买 B 变成 3 倍？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3886200" cy="15544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359152"/>
            <a:ext cx="3063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26A70"/>
                </a:solidFill>
                <a:latin typeface="Arial"/>
              </a:rPr>
              <a:t>这样两边都有
3 本练习本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920240"/>
            <a:ext cx="3886200" cy="15544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359152"/>
            <a:ext cx="3154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9A6411"/>
                </a:solidFill>
                <a:latin typeface="Arial"/>
              </a:rPr>
              <a:t>相减后练习本抵消，
剩下 13 支笔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6A70"/>
                </a:solidFill>
                <a:latin typeface="Arial"/>
              </a:rPr>
              <a:t>105 − 27 = 78（元），78 元正好是 13 支笔的价钱。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课内主例题｜规范解答与检验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784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3440"/>
                </a:solidFill>
                <a:latin typeface="Arial"/>
              </a:rPr>
              <a:t>对齐后相减，再代回原题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108960" cy="20116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64008" cy="20116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26974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签字笔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26700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105 − 27 = 78（元）
78 ÷ 13 = 6（元）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64008" cy="20116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29968"/>
            <a:ext cx="26974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练习本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87168"/>
            <a:ext cx="26700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27 − 2 × 6 = 15（元）
15 ÷ 3 = 5（元）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108960" cy="20116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64008" cy="20116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26974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检验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87168"/>
            <a:ext cx="267004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1 × 5 + 5 × 6
= 35（元），符合 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课内变式迁移｜完整题干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0241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《举一反三》同思想变式：先把什么数量对齐？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8778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3440"/>
                </a:solidFill>
                <a:latin typeface="Arial"/>
              </a:rPr>
              <a:t>甲：4 张贴纸 + 2 支铅笔 = 32 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8778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F3440"/>
                </a:solidFill>
                <a:latin typeface="Arial"/>
              </a:rPr>
              <a:t>乙：2 张贴纸 + 5 支铅笔 = 40 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71800"/>
            <a:ext cx="4800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10128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6A70"/>
                </a:solidFill>
                <a:latin typeface="Arial"/>
              </a:rPr>
              <a:t>提示：
把哪一张小票变成 2 倍？
为什么？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971800"/>
            <a:ext cx="4800600" cy="150876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310128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F3440"/>
                </a:solidFill>
                <a:latin typeface="Arial"/>
              </a:rPr>
              <a:t>算完后验证：
4 × 贴纸价 + 2 × 铅笔价
是否等于 32？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课内变式迁移｜规范解答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9601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3440"/>
                </a:solidFill>
                <a:latin typeface="Arial"/>
              </a:rPr>
              <a:t>把乙的购买变成 2 倍，再和甲比较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4389120" cy="16916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20240"/>
            <a:ext cx="64008" cy="16916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21408"/>
            <a:ext cx="3977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对齐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78608"/>
            <a:ext cx="39502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2 × 40 = 80（元）
4 张贴纸 + 10 支铅笔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920240"/>
            <a:ext cx="4389120" cy="16916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64008" cy="16916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21408"/>
            <a:ext cx="3977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相减并代回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78608"/>
            <a:ext cx="395020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80 − 32 = 48（元）
8 支铅笔 = 48 元，每支 6 元
贴纸每张 5 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8961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6A70"/>
                </a:solidFill>
                <a:latin typeface="Arial"/>
              </a:rPr>
              <a:t>迁移不变：先对齐一个量，再从差量中找另一个量。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方法卡 + 出口题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188720" cy="338328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987552"/>
            <a:ext cx="104241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今天的方法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9875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440"/>
                </a:solidFill>
                <a:latin typeface="Arial"/>
              </a:rPr>
              <a:t>先找相同的量，再看多出的量。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31720"/>
            <a:ext cx="7680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331720"/>
            <a:ext cx="64008" cy="19659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32888"/>
            <a:ext cx="7269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出口题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90087"/>
            <a:ext cx="724204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甲：5 本笔记本 + 2 支笔 = 34 元
乙：3 本笔记本 + 2 支笔 = 24 元
一本笔记本和一支笔各多少元？写一个检验方法。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2331720"/>
            <a:ext cx="2331720" cy="196596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15400" y="2331720"/>
            <a:ext cx="64008" cy="196596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532888"/>
            <a:ext cx="19202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离场前写下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990087"/>
            <a:ext cx="189280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我先比较了：______
我用 ________ 检验。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教师复盘｜不投屏也可以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记录的是思路，不只是对错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246120" cy="1097280"/>
          </a:xfrm>
          <a:prstGeom prst="roundRect">
            <a:avLst/>
          </a:prstGeom>
          <a:solidFill>
            <a:srgbClr val="EFF3F1"/>
          </a:solidFill>
          <a:ln>
            <a:solidFill>
              <a:srgbClr val="EF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0972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2996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学生第一反应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2807208" cy="2743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246120" cy="1097280"/>
          </a:xfrm>
          <a:prstGeom prst="roundRect">
            <a:avLst/>
          </a:prstGeom>
          <a:solidFill>
            <a:srgbClr val="EFF3F1"/>
          </a:solidFill>
          <a:ln>
            <a:solidFill>
              <a:srgbClr val="EF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828800"/>
            <a:ext cx="64008" cy="10972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02996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是否能解释依据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487168"/>
            <a:ext cx="2807208" cy="2743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/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828800"/>
            <a:ext cx="3246120" cy="1097280"/>
          </a:xfrm>
          <a:prstGeom prst="roundRect">
            <a:avLst/>
          </a:prstGeom>
          <a:solidFill>
            <a:srgbClr val="EFF3F1"/>
          </a:solidFill>
          <a:ln>
            <a:solidFill>
              <a:srgbClr val="EF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64008" cy="10972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2996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卡点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87168"/>
            <a:ext cx="2807208" cy="2743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83280"/>
            <a:ext cx="3246120" cy="1097280"/>
          </a:xfrm>
          <a:prstGeom prst="roundRect">
            <a:avLst/>
          </a:prstGeom>
          <a:solidFill>
            <a:srgbClr val="EFF3F1"/>
          </a:solidFill>
          <a:ln>
            <a:solidFill>
              <a:srgbClr val="EF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83280"/>
            <a:ext cx="64008" cy="10972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8444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有效引导语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41648"/>
            <a:ext cx="2807208" cy="2743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/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59" y="3383280"/>
            <a:ext cx="3246120" cy="1097280"/>
          </a:xfrm>
          <a:prstGeom prst="roundRect">
            <a:avLst/>
          </a:prstGeom>
          <a:solidFill>
            <a:srgbClr val="EFF3F1"/>
          </a:solidFill>
          <a:ln>
            <a:solidFill>
              <a:srgbClr val="EF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59" y="3383280"/>
            <a:ext cx="64008" cy="10972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59" y="358444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下次调整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59" y="4041648"/>
            <a:ext cx="2807208" cy="2743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第 2 次课｜40–45 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822960" cy="338328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987552"/>
            <a:ext cx="67665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任务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F3440"/>
                </a:solidFill>
                <a:latin typeface="Arial"/>
              </a:rPr>
              <a:t>规律不是“看起来像”，要能说清和验证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331720"/>
            <a:ext cx="8961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6A70"/>
                </a:solidFill>
                <a:latin typeface="Arial"/>
              </a:rPr>
              <a:t>观察 → 描述 → 猜想 → 验证 → 表达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2880360" cy="141732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64008" cy="141732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55848"/>
            <a:ext cx="2468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热身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13048"/>
            <a:ext cx="244144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数数图形：
不重数，也不漏数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154680"/>
            <a:ext cx="2880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3154680"/>
            <a:ext cx="64008" cy="141732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355848"/>
            <a:ext cx="2468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813048"/>
            <a:ext cx="244144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找规律：
先找“怎样变”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154680"/>
            <a:ext cx="2880360" cy="141732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3154680"/>
            <a:ext cx="64008" cy="141732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355848"/>
            <a:ext cx="2468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迁移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13048"/>
            <a:ext cx="2441448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用一个例子
证明不是巧合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思维主例题｜完整题干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241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经典例题：第 8 个三角点阵一共有多少个点？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920240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991356" y="1737360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40480" y="2039112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42232" y="2039112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93992" y="1417320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43116" y="1719072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4868" y="1719072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020824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93992" y="2020824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95744" y="2020824"/>
            <a:ext cx="128016" cy="128016"/>
          </a:xfrm>
          <a:prstGeom prst="ellips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2926080"/>
            <a:ext cx="9144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0727B"/>
                </a:solidFill>
                <a:latin typeface="Arial"/>
              </a:rPr>
              <a:t>1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26080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0727B"/>
                </a:solidFill>
                <a:latin typeface="Arial"/>
              </a:rPr>
              <a:t>3 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109728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60727B"/>
                </a:solidFill>
                <a:latin typeface="Arial"/>
              </a:rPr>
              <a:t>6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54880"/>
            <a:ext cx="9784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第 1、2、3 个点阵分别有 1、3、6 个点。第 8 个呢？先别急着列算式。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思维主例题｜建模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241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先把“每次增加几个点”写清楚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1F3440"/>
                </a:solidFill>
                <a:latin typeface="Arial"/>
              </a:rPr>
              <a:t>1，3，6，10，____，____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880360"/>
            <a:ext cx="9784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3200400"/>
            <a:ext cx="8869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126A70"/>
                </a:solidFill>
                <a:latin typeface="Arial"/>
              </a:rPr>
              <a:t>请写：每次增加多少？
+2，+3，+4，____，____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892040"/>
            <a:ext cx="1554480" cy="338328"/>
          </a:xfrm>
          <a:prstGeom prst="round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4965192"/>
            <a:ext cx="1408176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3440"/>
                </a:solidFill>
                <a:latin typeface="Arial"/>
              </a:rPr>
              <a:t>先独立 90 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思维主例题｜关键突破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241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不是每次都加 4，而是“增加的数”每次多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108960" cy="14630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64008" cy="14630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29968"/>
            <a:ext cx="26974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变化量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26700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+2，+3，+4，+5，+6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108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828800"/>
            <a:ext cx="64008" cy="14630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29968"/>
            <a:ext cx="26974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下一项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87168"/>
            <a:ext cx="26700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10 + 5 = 15
15 + 6 = 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108960" cy="14630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64008" cy="14630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29968"/>
            <a:ext cx="26974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怎样验证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487168"/>
            <a:ext cx="26700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看点阵：
下一行正好多 1 个点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9160"/>
            <a:ext cx="7772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6A70"/>
                </a:solidFill>
                <a:latin typeface="Arial"/>
              </a:rPr>
              <a:t>规律要能被别人照着做出来。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思维主例题｜规范解答与检验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F3440"/>
                </a:solidFill>
                <a:latin typeface="Arial"/>
              </a:rPr>
              <a:t>第 8 个点阵：依次加 2、3、4、5、6、7、8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4389120" cy="182880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74519"/>
            <a:ext cx="64008" cy="182880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3977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逐步得到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32887"/>
            <a:ext cx="39502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1 → 3 → 6 → 10 → 15
→ 21 → 28 → 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4389120" cy="182880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874519"/>
            <a:ext cx="64008" cy="182880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75688"/>
            <a:ext cx="3977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图形检验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32887"/>
            <a:ext cx="395020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第 8 层比第 7 层
正好多 8 个点：
28 + 8 = 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9966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26A70"/>
                </a:solidFill>
                <a:latin typeface="Arial"/>
              </a:rPr>
              <a:t>答案：第 8 个点阵有 36 个点。每一步都能在图形上找到依据。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思维变式一｜完整题干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变式一：圆、圆、三角，圆、圆、三角，……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2340864" y="2148840"/>
            <a:ext cx="347472" cy="347472"/>
          </a:xfrm>
          <a:prstGeom prst="triangl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54096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67328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4480560" y="2148840"/>
            <a:ext cx="347472" cy="347472"/>
          </a:xfrm>
          <a:prstGeom prst="triangl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93792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07024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6620256" y="2148840"/>
            <a:ext cx="347472" cy="347472"/>
          </a:xfrm>
          <a:prstGeom prst="triangl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33488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0" y="2148840"/>
            <a:ext cx="347472" cy="347472"/>
          </a:xfrm>
          <a:prstGeom prst="ellipse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8759952" y="2148840"/>
            <a:ext cx="347472" cy="347472"/>
          </a:xfrm>
          <a:prstGeom prst="triangle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4937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>
                <a:solidFill>
                  <a:srgbClr val="126A70"/>
                </a:solidFill>
                <a:latin typeface="Arial"/>
              </a:rPr>
              <a:t>第 20 个图案是什么？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795527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60727B"/>
                </a:solidFill>
                <a:latin typeface="Arial"/>
              </a:rPr>
              <a:t>先找一组有几个，再看 20 ÷ 3 的余数。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思维变式一｜规范解答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1F3440"/>
                </a:solidFill>
                <a:latin typeface="Arial"/>
              </a:rPr>
              <a:t>20 ÷ 3 = 6（组）……2（个）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788920"/>
            <a:ext cx="4206240" cy="141732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8920"/>
            <a:ext cx="64008" cy="141732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990088"/>
            <a:ext cx="3794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余数 2 表示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447287"/>
            <a:ext cx="376732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第 20 个图案
是一组中的第 2 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788920"/>
            <a:ext cx="4206240" cy="141732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2788920"/>
            <a:ext cx="64008" cy="141732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990088"/>
            <a:ext cx="3794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所以答案是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47287"/>
            <a:ext cx="3767327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圆形。
检验：第 18 个正好结束一组，
第 19、20 个都是圆。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思维变式二｜完整题干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241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F3440"/>
                </a:solidFill>
                <a:latin typeface="Arial"/>
              </a:rPr>
              <a:t>变式二：一台数字机器每次都“先 ×2，再 +1”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900" b="1">
                <a:solidFill>
                  <a:srgbClr val="126A70"/>
                </a:solidFill>
                <a:latin typeface="Arial"/>
              </a:rPr>
              <a:t>2   →   5   →   11   →   23   →   ____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749039"/>
            <a:ext cx="4069080" cy="12344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0120" y="3749039"/>
            <a:ext cx="64008" cy="12344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50207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请写规则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07407"/>
            <a:ext cx="3630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不是只写“翻倍”。
要把两个操作都说完整。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749039"/>
            <a:ext cx="4069080" cy="12344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86600" y="3749039"/>
            <a:ext cx="64008" cy="12344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3950207"/>
            <a:ext cx="3657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再做反向检验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407407"/>
            <a:ext cx="36301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从 23 回到 11，
应怎样操作？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思维变式二｜规范解答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97280"/>
            <a:ext cx="10058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1F3440"/>
                </a:solidFill>
                <a:latin typeface="Arial"/>
              </a:rPr>
              <a:t>23 × 2 + 1 = 47，所以空格填 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514600"/>
            <a:ext cx="4206240" cy="14630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514600"/>
            <a:ext cx="64008" cy="14630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15768"/>
            <a:ext cx="3794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正向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72968"/>
            <a:ext cx="37673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每一步都：
前一个数 × 2 + 1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514600"/>
            <a:ext cx="4206240" cy="14630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12280" y="2514600"/>
            <a:ext cx="64008" cy="14630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2715768"/>
            <a:ext cx="379475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反向检验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172968"/>
            <a:ext cx="3767327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23 − 1 = 22
22 ÷ 2 = 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思维方法复盘｜说清楚才算会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700" b="1">
                <a:solidFill>
                  <a:srgbClr val="1F3440"/>
                </a:solidFill>
                <a:latin typeface="Arial"/>
              </a:rPr>
              <a:t>观察 → 描述 → 猜想 → 验证 → 表达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60320"/>
            <a:ext cx="2011680" cy="132588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64008" cy="13258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8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7"/>
            <a:ext cx="1572768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变化了什么？
量、图形还是操作？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560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2560320"/>
            <a:ext cx="64008" cy="13258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2761488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18687"/>
            <a:ext cx="1572768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每一步怎样变？
用具体数字说。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560320"/>
            <a:ext cx="2011680" cy="132588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2560320"/>
            <a:ext cx="64008" cy="132588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761488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3218687"/>
            <a:ext cx="1572768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能用已有例子
倒着检查吗？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256032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0" y="2560320"/>
            <a:ext cx="64008" cy="132588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761488"/>
            <a:ext cx="1600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表达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18687"/>
            <a:ext cx="1572768" cy="502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别人能照着规则
继续做下去吗？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9784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6A70"/>
                </a:solidFill>
                <a:latin typeface="Arial"/>
              </a:rPr>
              <a:t>答案不是终点：能解释、能验证，才算真正发现了规律。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solidFill>
              <a:srgbClr val="F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3035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>
                <a:solidFill>
                  <a:srgbClr val="126A70"/>
                </a:solidFill>
                <a:latin typeface="Arial"/>
              </a:rPr>
              <a:t>第 1 周｜看见关系，发现规律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256032"/>
            <a:ext cx="233172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0727B"/>
                </a:solidFill>
                <a:latin typeface="Arial"/>
              </a:rPr>
              <a:t>教师复盘｜下周从哪里开始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0080"/>
            <a:ext cx="11155680" cy="2286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9601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440"/>
                </a:solidFill>
                <a:latin typeface="Arial"/>
              </a:rPr>
              <a:t>只记三件事，就足够调整下一课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3246120" cy="1920240"/>
          </a:xfrm>
          <a:prstGeom prst="roundRect">
            <a:avLst/>
          </a:prstGeom>
          <a:solidFill>
            <a:srgbClr val="E8F1E8"/>
          </a:solidFill>
          <a:ln>
            <a:solidFill>
              <a:srgbClr val="E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64008" cy="1920240"/>
          </a:xfrm>
          <a:prstGeom prst="rect">
            <a:avLst/>
          </a:prstGeom>
          <a:solidFill>
            <a:srgbClr val="126A70"/>
          </a:solidFill>
          <a:ln>
            <a:solidFill>
              <a:srgbClr val="126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学生的表达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532887"/>
            <a:ext cx="280720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能否说出“为什么”？
还是只报出答案？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74519"/>
            <a:ext cx="64008" cy="19202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07568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学生的检验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532887"/>
            <a:ext cx="280720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会不会用一个已有例子
验证自己的猜想？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874519"/>
            <a:ext cx="3246120" cy="1920240"/>
          </a:xfrm>
          <a:prstGeom prst="roundRect">
            <a:avLst/>
          </a:prstGeom>
          <a:solidFill>
            <a:srgbClr val="F8E9DE"/>
          </a:solidFill>
          <a:ln>
            <a:solidFill>
              <a:srgbClr val="F8E9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74519"/>
            <a:ext cx="64008" cy="1920240"/>
          </a:xfrm>
          <a:prstGeom prst="rect">
            <a:avLst/>
          </a:prstGeom>
          <a:solidFill>
            <a:srgbClr val="E6AA45"/>
          </a:solidFill>
          <a:ln>
            <a:solidFill>
              <a:srgbClr val="E6A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75688"/>
            <a:ext cx="283463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AA45"/>
                </a:solidFill>
                <a:latin typeface="Arial"/>
              </a:rPr>
              <a:t>下次调整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532887"/>
            <a:ext cx="280720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3440"/>
                </a:solidFill>
                <a:latin typeface="Arial"/>
              </a:rPr>
              <a:t>加深图形规律？
还是补足变化量描述？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6A70"/>
                </a:solidFill>
                <a:latin typeface="Arial"/>
              </a:rPr>
              <a:t>下一周：根据两道出口题，决定课内进阶的提问深度与规律题的层级。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 周｜看见关系，发现规律</dc:title>
  <dc:subject>三年级数学辅导教师版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