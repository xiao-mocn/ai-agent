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solidFill>
              <a:srgbClr val="FBF8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97280" cy="338328"/>
          </a:xfrm>
          <a:prstGeom prst="roundRect">
            <a:avLst/>
          </a:prstGeom>
          <a:solidFill>
            <a:srgbClr val="E6AA45"/>
          </a:solidFill>
          <a:ln>
            <a:solidFill>
              <a:srgbClr val="E6A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804672"/>
            <a:ext cx="950976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F3440"/>
                </a:solidFill>
                <a:latin typeface="Arial"/>
              </a:rPr>
              <a:t>数学挑战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9601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1F3440"/>
                </a:solidFill>
                <a:latin typeface="Arial"/>
              </a:rPr>
              <a:t>先复习，再学新方法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606040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0">
                <a:solidFill>
                  <a:srgbClr val="60727B"/>
                </a:solidFill>
                <a:latin typeface="Arial"/>
              </a:rPr>
              <a:t>第 1 周｜连续两节课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4434840"/>
            <a:ext cx="56692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126A70"/>
                </a:solidFill>
                <a:latin typeface="Arial"/>
              </a:rPr>
              <a:t>今天只讲透一个方法：
先把数量对齐，再找出未知量。</a:t>
            </a:r>
          </a:p>
        </p:txBody>
      </p:sp>
      <p:sp>
        <p:nvSpPr>
          <p:cNvPr id="8" name="Oval 7"/>
          <p:cNvSpPr/>
          <p:nvPr/>
        </p:nvSpPr>
        <p:spPr>
          <a:xfrm>
            <a:off x="9601200" y="1554480"/>
            <a:ext cx="1371600" cy="1371600"/>
          </a:xfrm>
          <a:prstGeom prst="ellipse">
            <a:avLst/>
          </a:prstGeom>
          <a:solidFill>
            <a:srgbClr val="E8F1E8"/>
          </a:solidFill>
          <a:ln>
            <a:solidFill>
              <a:srgbClr val="E8F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469880" y="2743200"/>
            <a:ext cx="658368" cy="658368"/>
          </a:xfrm>
          <a:prstGeom prst="ellipse">
            <a:avLst/>
          </a:prstGeom>
          <a:solidFill>
            <a:srgbClr val="F8E9DE"/>
          </a:solidFill>
          <a:ln>
            <a:solidFill>
              <a:srgbClr val="F8E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solidFill>
              <a:srgbClr val="FBF8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85216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>
                <a:solidFill>
                  <a:srgbClr val="126A70"/>
                </a:solidFill>
                <a:latin typeface="Arial"/>
              </a:rPr>
              <a:t>第 1 周｜看见关系，发现规律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79" y="256032"/>
            <a:ext cx="3703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>
                <a:solidFill>
                  <a:srgbClr val="60727B"/>
                </a:solidFill>
                <a:latin typeface="Arial"/>
              </a:rPr>
              <a:t>本周学习路线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0080"/>
            <a:ext cx="11155680" cy="22860"/>
          </a:xfrm>
          <a:prstGeom prst="rect">
            <a:avLst/>
          </a:prstGeom>
          <a:solidFill>
            <a:srgbClr val="126A70"/>
          </a:solidFill>
          <a:ln>
            <a:solidFill>
              <a:srgbClr val="126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700" b="1">
                <a:solidFill>
                  <a:srgbClr val="1F3440"/>
                </a:solidFill>
                <a:latin typeface="Arial"/>
              </a:rPr>
              <a:t>两节课，完成一个学习闭环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103120"/>
            <a:ext cx="4754880" cy="1874519"/>
          </a:xfrm>
          <a:prstGeom prst="roundRect">
            <a:avLst/>
          </a:prstGeom>
          <a:solidFill>
            <a:srgbClr val="E8F1E8"/>
          </a:solidFill>
          <a:ln>
            <a:solidFill>
              <a:srgbClr val="E8F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2103120"/>
            <a:ext cx="64008" cy="1874519"/>
          </a:xfrm>
          <a:prstGeom prst="rect">
            <a:avLst/>
          </a:prstGeom>
          <a:solidFill>
            <a:srgbClr val="126A70"/>
          </a:solidFill>
          <a:ln>
            <a:solidFill>
              <a:srgbClr val="126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304288"/>
            <a:ext cx="4343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26A70"/>
                </a:solidFill>
                <a:latin typeface="Arial"/>
              </a:rPr>
              <a:t>第 1 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761487"/>
            <a:ext cx="4315968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3440"/>
                </a:solidFill>
                <a:latin typeface="Arial"/>
              </a:rPr>
              <a:t>易错点检测
→ 学习新方法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37960" y="2103120"/>
            <a:ext cx="4754880" cy="1874519"/>
          </a:xfrm>
          <a:prstGeom prst="roundRect">
            <a:avLst/>
          </a:prstGeom>
          <a:solidFill>
            <a:srgbClr val="F8E9DE"/>
          </a:solidFill>
          <a:ln>
            <a:solidFill>
              <a:srgbClr val="F8E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37960" y="2103120"/>
            <a:ext cx="64008" cy="1874519"/>
          </a:xfrm>
          <a:prstGeom prst="rect">
            <a:avLst/>
          </a:prstGeom>
          <a:solidFill>
            <a:srgbClr val="E6AA45"/>
          </a:solidFill>
          <a:ln>
            <a:solidFill>
              <a:srgbClr val="E6A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0" y="2304288"/>
            <a:ext cx="4343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E6AA45"/>
                </a:solidFill>
                <a:latin typeface="Arial"/>
              </a:rPr>
              <a:t>第 2 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2761487"/>
            <a:ext cx="4315968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3440"/>
                </a:solidFill>
                <a:latin typeface="Arial"/>
              </a:rPr>
              <a:t>独立检测与订正
→ 预习下一内容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800600"/>
            <a:ext cx="9326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126A70"/>
                </a:solidFill>
                <a:latin typeface="Arial"/>
              </a:rPr>
              <a:t>先把旧问题找出来，再把新方法学明白。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solidFill>
              <a:srgbClr val="FBF8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85216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>
                <a:solidFill>
                  <a:srgbClr val="126A70"/>
                </a:solidFill>
                <a:latin typeface="Arial"/>
              </a:rPr>
              <a:t>第 1 周｜看见关系，发现规律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79" y="256032"/>
            <a:ext cx="3703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>
                <a:solidFill>
                  <a:srgbClr val="60727B"/>
                </a:solidFill>
                <a:latin typeface="Arial"/>
              </a:rPr>
              <a:t>第 1 节｜易错点检测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0080"/>
            <a:ext cx="11155680" cy="22860"/>
          </a:xfrm>
          <a:prstGeom prst="rect">
            <a:avLst/>
          </a:prstGeom>
          <a:solidFill>
            <a:srgbClr val="126A70"/>
          </a:solidFill>
          <a:ln>
            <a:solidFill>
              <a:srgbClr val="126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914400"/>
            <a:ext cx="1554480" cy="338328"/>
          </a:xfrm>
          <a:prstGeom prst="roundRect">
            <a:avLst/>
          </a:prstGeom>
          <a:solidFill>
            <a:srgbClr val="E6AA45"/>
          </a:solidFill>
          <a:ln>
            <a:solidFill>
              <a:srgbClr val="E6A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987552"/>
            <a:ext cx="1408176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F3440"/>
                </a:solidFill>
                <a:latin typeface="Arial"/>
              </a:rPr>
              <a:t>先找容易错的地方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08760"/>
            <a:ext cx="95097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>
                <a:solidFill>
                  <a:srgbClr val="1F3440"/>
                </a:solidFill>
                <a:latin typeface="Arial"/>
              </a:rPr>
              <a:t>请独立完成，不要着急说答案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423160"/>
            <a:ext cx="4297680" cy="1554480"/>
          </a:xfrm>
          <a:prstGeom prst="roundRect">
            <a:avLst/>
          </a:prstGeom>
          <a:solidFill>
            <a:srgbClr val="E8F1E8"/>
          </a:solidFill>
          <a:ln>
            <a:solidFill>
              <a:srgbClr val="E8F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2423160"/>
            <a:ext cx="64008" cy="1554480"/>
          </a:xfrm>
          <a:prstGeom prst="rect">
            <a:avLst/>
          </a:prstGeom>
          <a:solidFill>
            <a:srgbClr val="126A70"/>
          </a:solidFill>
          <a:ln>
            <a:solidFill>
              <a:srgbClr val="126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624328"/>
            <a:ext cx="3886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26A70"/>
                </a:solidFill>
                <a:latin typeface="Arial"/>
              </a:rPr>
              <a:t>E1 运算顺序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081528"/>
            <a:ext cx="3858768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3440"/>
                </a:solidFill>
                <a:latin typeface="Arial"/>
              </a:rPr>
              <a:t>18 − 3 × 4 = ____
先算哪一步？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2423160"/>
            <a:ext cx="4297680" cy="1554480"/>
          </a:xfrm>
          <a:prstGeom prst="roundRect">
            <a:avLst/>
          </a:prstGeom>
          <a:solidFill>
            <a:srgbClr val="F8E9DE"/>
          </a:solidFill>
          <a:ln>
            <a:solidFill>
              <a:srgbClr val="F8E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423160"/>
            <a:ext cx="64008" cy="1554480"/>
          </a:xfrm>
          <a:prstGeom prst="rect">
            <a:avLst/>
          </a:prstGeom>
          <a:solidFill>
            <a:srgbClr val="E6AA45"/>
          </a:solidFill>
          <a:ln>
            <a:solidFill>
              <a:srgbClr val="E6A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2624328"/>
            <a:ext cx="3886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E6AA45"/>
                </a:solidFill>
                <a:latin typeface="Arial"/>
              </a:rPr>
              <a:t>E2 数量关系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081528"/>
            <a:ext cx="3858768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3440"/>
                </a:solidFill>
                <a:latin typeface="Arial"/>
              </a:rPr>
              <a:t>3 盒饼干，每盒 4 块。
一共有多少块？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00600"/>
            <a:ext cx="96926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126A70"/>
                </a:solidFill>
                <a:latin typeface="Arial"/>
              </a:rPr>
              <a:t>写下答案，也写下你第一步做了什么。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solidFill>
              <a:srgbClr val="FBF8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85216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>
                <a:solidFill>
                  <a:srgbClr val="126A70"/>
                </a:solidFill>
                <a:latin typeface="Arial"/>
              </a:rPr>
              <a:t>第 1 周｜看见关系，发现规律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79" y="256032"/>
            <a:ext cx="3703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>
                <a:solidFill>
                  <a:srgbClr val="60727B"/>
                </a:solidFill>
                <a:latin typeface="Arial"/>
              </a:rPr>
              <a:t>第 1 节｜复习订正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0080"/>
            <a:ext cx="11155680" cy="22860"/>
          </a:xfrm>
          <a:prstGeom prst="rect">
            <a:avLst/>
          </a:prstGeom>
          <a:solidFill>
            <a:srgbClr val="126A70"/>
          </a:solidFill>
          <a:ln>
            <a:solidFill>
              <a:srgbClr val="126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051560"/>
            <a:ext cx="9601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3440"/>
                </a:solidFill>
                <a:latin typeface="Arial"/>
              </a:rPr>
              <a:t>先判断关系，再计算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240280"/>
            <a:ext cx="4297680" cy="1600200"/>
          </a:xfrm>
          <a:prstGeom prst="roundRect">
            <a:avLst/>
          </a:prstGeom>
          <a:solidFill>
            <a:srgbClr val="E8F1E8"/>
          </a:solidFill>
          <a:ln>
            <a:solidFill>
              <a:srgbClr val="E8F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240280"/>
            <a:ext cx="64008" cy="1600200"/>
          </a:xfrm>
          <a:prstGeom prst="rect">
            <a:avLst/>
          </a:prstGeom>
          <a:solidFill>
            <a:srgbClr val="126A70"/>
          </a:solidFill>
          <a:ln>
            <a:solidFill>
              <a:srgbClr val="126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441448"/>
            <a:ext cx="3886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26A70"/>
                </a:solidFill>
                <a:latin typeface="Arial"/>
              </a:rPr>
              <a:t>第 1 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898648"/>
            <a:ext cx="3858768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3440"/>
                </a:solidFill>
                <a:latin typeface="Arial"/>
              </a:rPr>
              <a:t>先算 3 × 4 = 12
18 − 12 = 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240280"/>
            <a:ext cx="4297680" cy="1600200"/>
          </a:xfrm>
          <a:prstGeom prst="roundRect">
            <a:avLst/>
          </a:prstGeom>
          <a:solidFill>
            <a:srgbClr val="F8E9DE"/>
          </a:solidFill>
          <a:ln>
            <a:solidFill>
              <a:srgbClr val="F8E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2240280"/>
            <a:ext cx="64008" cy="1600200"/>
          </a:xfrm>
          <a:prstGeom prst="rect">
            <a:avLst/>
          </a:prstGeom>
          <a:solidFill>
            <a:srgbClr val="E6AA45"/>
          </a:solidFill>
          <a:ln>
            <a:solidFill>
              <a:srgbClr val="E6A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441448"/>
            <a:ext cx="3886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E6AA45"/>
                </a:solidFill>
                <a:latin typeface="Arial"/>
              </a:rPr>
              <a:t>第 2 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898648"/>
            <a:ext cx="3858768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3440"/>
                </a:solidFill>
                <a:latin typeface="Arial"/>
              </a:rPr>
              <a:t>每盒一样多：
3 × 4 = 12（块）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754880"/>
            <a:ext cx="987552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126A70"/>
                </a:solidFill>
                <a:latin typeface="Arial"/>
              </a:rPr>
              <a:t>检查：算式中的每个数，都要能在题目里找到意思。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solidFill>
              <a:srgbClr val="FBF8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85216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>
                <a:solidFill>
                  <a:srgbClr val="126A70"/>
                </a:solidFill>
                <a:latin typeface="Arial"/>
              </a:rPr>
              <a:t>第 1 周｜看见关系，发现规律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79" y="256032"/>
            <a:ext cx="3703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>
                <a:solidFill>
                  <a:srgbClr val="60727B"/>
                </a:solidFill>
                <a:latin typeface="Arial"/>
              </a:rPr>
              <a:t>第 1 节｜新内容经典例题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0080"/>
            <a:ext cx="11155680" cy="22860"/>
          </a:xfrm>
          <a:prstGeom prst="rect">
            <a:avLst/>
          </a:prstGeom>
          <a:solidFill>
            <a:srgbClr val="126A70"/>
          </a:solidFill>
          <a:ln>
            <a:solidFill>
              <a:srgbClr val="126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05840"/>
            <a:ext cx="10424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500" b="1">
                <a:solidFill>
                  <a:srgbClr val="1F3440"/>
                </a:solidFill>
                <a:latin typeface="Arial"/>
              </a:rPr>
              <a:t>经典例题：两种买法，怎样求出单价？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011680"/>
            <a:ext cx="4389120" cy="1920240"/>
          </a:xfrm>
          <a:prstGeom prst="roundRect">
            <a:avLst/>
          </a:prstGeom>
          <a:solidFill>
            <a:srgbClr val="E8F1E8"/>
          </a:solidFill>
          <a:ln>
            <a:solidFill>
              <a:srgbClr val="E8F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011680"/>
            <a:ext cx="64008" cy="1920240"/>
          </a:xfrm>
          <a:prstGeom prst="rect">
            <a:avLst/>
          </a:prstGeom>
          <a:solidFill>
            <a:srgbClr val="126A70"/>
          </a:solidFill>
          <a:ln>
            <a:solidFill>
              <a:srgbClr val="126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212848"/>
            <a:ext cx="397763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26A70"/>
                </a:solidFill>
                <a:latin typeface="Arial"/>
              </a:rPr>
              <a:t>购买 A｜27 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70048"/>
            <a:ext cx="3950208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3440"/>
                </a:solidFill>
                <a:latin typeface="Arial"/>
              </a:rPr>
              <a:t>3 本练习本
+ 2 支签字笔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011680"/>
            <a:ext cx="4389120" cy="1920240"/>
          </a:xfrm>
          <a:prstGeom prst="roundRect">
            <a:avLst/>
          </a:prstGeom>
          <a:solidFill>
            <a:srgbClr val="F8E9DE"/>
          </a:solidFill>
          <a:ln>
            <a:solidFill>
              <a:srgbClr val="F8E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2011680"/>
            <a:ext cx="64008" cy="1920240"/>
          </a:xfrm>
          <a:prstGeom prst="rect">
            <a:avLst/>
          </a:prstGeom>
          <a:solidFill>
            <a:srgbClr val="E6AA45"/>
          </a:solidFill>
          <a:ln>
            <a:solidFill>
              <a:srgbClr val="E6A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212848"/>
            <a:ext cx="397763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E6AA45"/>
                </a:solidFill>
                <a:latin typeface="Arial"/>
              </a:rPr>
              <a:t>购买 B｜35 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670048"/>
            <a:ext cx="3950208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3440"/>
                </a:solidFill>
                <a:latin typeface="Arial"/>
              </a:rPr>
              <a:t>1 本练习本
+ 5 支签字笔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754880"/>
            <a:ext cx="96926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126A70"/>
                </a:solidFill>
                <a:latin typeface="Arial"/>
              </a:rPr>
              <a:t>问题：一本练习本和一支签字笔各多少元？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solidFill>
              <a:srgbClr val="FBF8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85216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>
                <a:solidFill>
                  <a:srgbClr val="126A70"/>
                </a:solidFill>
                <a:latin typeface="Arial"/>
              </a:rPr>
              <a:t>第 1 周｜看见关系，发现规律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79" y="256032"/>
            <a:ext cx="3703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>
                <a:solidFill>
                  <a:srgbClr val="60727B"/>
                </a:solidFill>
                <a:latin typeface="Arial"/>
              </a:rPr>
              <a:t>静想一下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0080"/>
            <a:ext cx="11155680" cy="22860"/>
          </a:xfrm>
          <a:prstGeom prst="rect">
            <a:avLst/>
          </a:prstGeom>
          <a:solidFill>
            <a:srgbClr val="126A70"/>
          </a:solidFill>
          <a:ln>
            <a:solidFill>
              <a:srgbClr val="126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188720"/>
            <a:ext cx="10241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900" b="1">
                <a:solidFill>
                  <a:srgbClr val="1F3440"/>
                </a:solidFill>
                <a:latin typeface="Arial"/>
              </a:rPr>
              <a:t>先不急着计算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2514600"/>
            <a:ext cx="4206240" cy="1645920"/>
          </a:xfrm>
          <a:prstGeom prst="roundRect">
            <a:avLst/>
          </a:prstGeom>
          <a:solidFill>
            <a:srgbClr val="E8F1E8"/>
          </a:solidFill>
          <a:ln>
            <a:solidFill>
              <a:srgbClr val="E8F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88720" y="2514600"/>
            <a:ext cx="64008" cy="1645920"/>
          </a:xfrm>
          <a:prstGeom prst="rect">
            <a:avLst/>
          </a:prstGeom>
          <a:solidFill>
            <a:srgbClr val="126A70"/>
          </a:solidFill>
          <a:ln>
            <a:solidFill>
              <a:srgbClr val="126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17320" y="2715768"/>
            <a:ext cx="379475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26A70"/>
                </a:solidFill>
                <a:latin typeface="Arial"/>
              </a:rPr>
              <a:t>试一试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3172968"/>
            <a:ext cx="3767327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3440"/>
                </a:solidFill>
                <a:latin typeface="Arial"/>
              </a:rPr>
              <a:t>把两种购买信息写成两行。
你想让哪一种物品的数量变得一样？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0" y="2514600"/>
            <a:ext cx="4206240" cy="1645920"/>
          </a:xfrm>
          <a:prstGeom prst="roundRect">
            <a:avLst/>
          </a:prstGeom>
          <a:solidFill>
            <a:srgbClr val="F8E9DE"/>
          </a:solidFill>
          <a:ln>
            <a:solidFill>
              <a:srgbClr val="F8E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66560" y="2514600"/>
            <a:ext cx="64008" cy="1645920"/>
          </a:xfrm>
          <a:prstGeom prst="rect">
            <a:avLst/>
          </a:prstGeom>
          <a:solidFill>
            <a:srgbClr val="E6AA45"/>
          </a:solidFill>
          <a:ln>
            <a:solidFill>
              <a:srgbClr val="E6A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2715768"/>
            <a:ext cx="379475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E6AA45"/>
                </a:solidFill>
                <a:latin typeface="Arial"/>
              </a:rPr>
              <a:t>想一想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3172968"/>
            <a:ext cx="3767327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3440"/>
                </a:solidFill>
                <a:latin typeface="Arial"/>
              </a:rPr>
              <a:t>如果两边都有同样多的练习本，
相减后会留下什么？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983480"/>
            <a:ext cx="102412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26A70"/>
                </a:solidFill>
                <a:latin typeface="Arial"/>
              </a:rPr>
              <a:t>把你的想法写在草稿纸上。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solidFill>
              <a:srgbClr val="FBF8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85216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>
                <a:solidFill>
                  <a:srgbClr val="126A70"/>
                </a:solidFill>
                <a:latin typeface="Arial"/>
              </a:rPr>
              <a:t>第 1 周｜看见关系，发现规律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79" y="256032"/>
            <a:ext cx="3703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>
                <a:solidFill>
                  <a:srgbClr val="60727B"/>
                </a:solidFill>
                <a:latin typeface="Arial"/>
              </a:rPr>
              <a:t>第 1 节｜例题分析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0080"/>
            <a:ext cx="11155680" cy="22860"/>
          </a:xfrm>
          <a:prstGeom prst="rect">
            <a:avLst/>
          </a:prstGeom>
          <a:solidFill>
            <a:srgbClr val="126A70"/>
          </a:solidFill>
          <a:ln>
            <a:solidFill>
              <a:srgbClr val="126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005840"/>
            <a:ext cx="1024128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500" b="1">
                <a:solidFill>
                  <a:srgbClr val="1F3440"/>
                </a:solidFill>
                <a:latin typeface="Arial"/>
              </a:rPr>
              <a:t>先把练习本的数量对齐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965960"/>
            <a:ext cx="3063240" cy="1691640"/>
          </a:xfrm>
          <a:prstGeom prst="roundRect">
            <a:avLst/>
          </a:prstGeom>
          <a:solidFill>
            <a:srgbClr val="E8F1E8"/>
          </a:solidFill>
          <a:ln>
            <a:solidFill>
              <a:srgbClr val="E8F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1965960"/>
            <a:ext cx="64008" cy="1691640"/>
          </a:xfrm>
          <a:prstGeom prst="rect">
            <a:avLst/>
          </a:prstGeom>
          <a:solidFill>
            <a:srgbClr val="126A70"/>
          </a:solidFill>
          <a:ln>
            <a:solidFill>
              <a:srgbClr val="126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167128"/>
            <a:ext cx="26517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26A70"/>
                </a:solidFill>
                <a:latin typeface="Arial"/>
              </a:rPr>
              <a:t>购买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624328"/>
            <a:ext cx="262432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3440"/>
                </a:solidFill>
                <a:latin typeface="Arial"/>
              </a:rPr>
              <a:t>3 本练习本
+ 2 支笔 = 27 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1965960"/>
            <a:ext cx="306324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26280" y="1965960"/>
            <a:ext cx="64008" cy="1691640"/>
          </a:xfrm>
          <a:prstGeom prst="rect">
            <a:avLst/>
          </a:prstGeom>
          <a:solidFill>
            <a:srgbClr val="E6AA45"/>
          </a:solidFill>
          <a:ln>
            <a:solidFill>
              <a:srgbClr val="E6A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2167128"/>
            <a:ext cx="26517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E6AA45"/>
                </a:solidFill>
                <a:latin typeface="Arial"/>
              </a:rPr>
              <a:t>购买 B 的 3 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624328"/>
            <a:ext cx="262432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3440"/>
                </a:solidFill>
                <a:latin typeface="Arial"/>
              </a:rPr>
              <a:t>3 本练习本
+ 15 支笔 = 105 元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79" y="1965960"/>
            <a:ext cx="3063240" cy="1691640"/>
          </a:xfrm>
          <a:prstGeom prst="roundRect">
            <a:avLst/>
          </a:prstGeom>
          <a:solidFill>
            <a:srgbClr val="F8E9DE"/>
          </a:solidFill>
          <a:ln>
            <a:solidFill>
              <a:srgbClr val="F8E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83879" y="1965960"/>
            <a:ext cx="64008" cy="1691640"/>
          </a:xfrm>
          <a:prstGeom prst="rect">
            <a:avLst/>
          </a:prstGeom>
          <a:solidFill>
            <a:srgbClr val="E6AA45"/>
          </a:solidFill>
          <a:ln>
            <a:solidFill>
              <a:srgbClr val="E6A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2167128"/>
            <a:ext cx="26517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E6AA45"/>
                </a:solidFill>
                <a:latin typeface="Arial"/>
              </a:rPr>
              <a:t>相减后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624328"/>
            <a:ext cx="262432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3440"/>
                </a:solidFill>
                <a:latin typeface="Arial"/>
              </a:rPr>
              <a:t>练习本抵消，
13 支笔 = 78 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754880"/>
            <a:ext cx="10149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126A70"/>
                </a:solidFill>
                <a:latin typeface="Arial"/>
              </a:rPr>
              <a:t>关键一步：先让一种物品的数量相同。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solidFill>
              <a:srgbClr val="FBF8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85216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>
                <a:solidFill>
                  <a:srgbClr val="126A70"/>
                </a:solidFill>
                <a:latin typeface="Arial"/>
              </a:rPr>
              <a:t>第 1 周｜看见关系，发现规律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79" y="256032"/>
            <a:ext cx="3703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>
                <a:solidFill>
                  <a:srgbClr val="60727B"/>
                </a:solidFill>
                <a:latin typeface="Arial"/>
              </a:rPr>
              <a:t>第 1 节｜规范解答与检验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0080"/>
            <a:ext cx="11155680" cy="22860"/>
          </a:xfrm>
          <a:prstGeom prst="rect">
            <a:avLst/>
          </a:prstGeom>
          <a:solidFill>
            <a:srgbClr val="126A70"/>
          </a:solidFill>
          <a:ln>
            <a:solidFill>
              <a:srgbClr val="126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737360"/>
            <a:ext cx="3108960" cy="2011680"/>
          </a:xfrm>
          <a:prstGeom prst="roundRect">
            <a:avLst/>
          </a:prstGeom>
          <a:solidFill>
            <a:srgbClr val="E8F1E8"/>
          </a:solidFill>
          <a:ln>
            <a:solidFill>
              <a:srgbClr val="E8F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1737360"/>
            <a:ext cx="64008" cy="2011680"/>
          </a:xfrm>
          <a:prstGeom prst="rect">
            <a:avLst/>
          </a:prstGeom>
          <a:solidFill>
            <a:srgbClr val="126A70"/>
          </a:solidFill>
          <a:ln>
            <a:solidFill>
              <a:srgbClr val="126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938528"/>
            <a:ext cx="269747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26A70"/>
                </a:solidFill>
                <a:latin typeface="Arial"/>
              </a:rPr>
              <a:t>签字笔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395728"/>
            <a:ext cx="2670048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3440"/>
                </a:solidFill>
                <a:latin typeface="Arial"/>
              </a:rPr>
              <a:t>105 − 27 = 78（元）
78 ÷ 13 = 6（元）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1737360"/>
            <a:ext cx="31089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26280" y="1737360"/>
            <a:ext cx="64008" cy="2011680"/>
          </a:xfrm>
          <a:prstGeom prst="rect">
            <a:avLst/>
          </a:prstGeom>
          <a:solidFill>
            <a:srgbClr val="E6AA45"/>
          </a:solidFill>
          <a:ln>
            <a:solidFill>
              <a:srgbClr val="E6A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1938528"/>
            <a:ext cx="269747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E6AA45"/>
                </a:solidFill>
                <a:latin typeface="Arial"/>
              </a:rPr>
              <a:t>练习本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395728"/>
            <a:ext cx="2670048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3440"/>
                </a:solidFill>
                <a:latin typeface="Arial"/>
              </a:rPr>
              <a:t>27 − 2 × 6 = 15（元）
15 ÷ 3 = 5（元）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737360"/>
            <a:ext cx="3108960" cy="2011680"/>
          </a:xfrm>
          <a:prstGeom prst="roundRect">
            <a:avLst/>
          </a:prstGeom>
          <a:solidFill>
            <a:srgbClr val="F8E9DE"/>
          </a:solidFill>
          <a:ln>
            <a:solidFill>
              <a:srgbClr val="F8E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737360"/>
            <a:ext cx="64008" cy="2011680"/>
          </a:xfrm>
          <a:prstGeom prst="rect">
            <a:avLst/>
          </a:prstGeom>
          <a:solidFill>
            <a:srgbClr val="E6AA45"/>
          </a:solidFill>
          <a:ln>
            <a:solidFill>
              <a:srgbClr val="E6A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1938528"/>
            <a:ext cx="269747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E6AA45"/>
                </a:solidFill>
                <a:latin typeface="Arial"/>
              </a:rPr>
              <a:t>检验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395728"/>
            <a:ext cx="2670048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3440"/>
                </a:solidFill>
                <a:latin typeface="Arial"/>
              </a:rPr>
              <a:t>1 × 5 + 5 × 6
= 35（元），符合购买 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709160"/>
            <a:ext cx="987552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126A70"/>
                </a:solidFill>
                <a:latin typeface="Arial"/>
              </a:rPr>
              <a:t>方法卡：先对齐一种数量，再相减，最后代回检验。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solidFill>
              <a:srgbClr val="FBF8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85216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>
                <a:solidFill>
                  <a:srgbClr val="126A70"/>
                </a:solidFill>
                <a:latin typeface="Arial"/>
              </a:rPr>
              <a:t>第 1 周｜看见关系，发现规律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79" y="256032"/>
            <a:ext cx="3703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>
                <a:solidFill>
                  <a:srgbClr val="60727B"/>
                </a:solidFill>
                <a:latin typeface="Arial"/>
              </a:rPr>
              <a:t>第 2 节｜新内容检测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0080"/>
            <a:ext cx="11155680" cy="22860"/>
          </a:xfrm>
          <a:prstGeom prst="rect">
            <a:avLst/>
          </a:prstGeom>
          <a:solidFill>
            <a:srgbClr val="126A70"/>
          </a:solidFill>
          <a:ln>
            <a:solidFill>
              <a:srgbClr val="126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058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1F3440"/>
                </a:solidFill>
                <a:latin typeface="Arial"/>
              </a:rPr>
              <a:t>独立完成：这次不提示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148840"/>
            <a:ext cx="4389120" cy="1737360"/>
          </a:xfrm>
          <a:prstGeom prst="roundRect">
            <a:avLst/>
          </a:prstGeom>
          <a:solidFill>
            <a:srgbClr val="E8F1E8"/>
          </a:solidFill>
          <a:ln>
            <a:solidFill>
              <a:srgbClr val="E8F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148840"/>
            <a:ext cx="64008" cy="1737360"/>
          </a:xfrm>
          <a:prstGeom prst="rect">
            <a:avLst/>
          </a:prstGeom>
          <a:solidFill>
            <a:srgbClr val="126A70"/>
          </a:solidFill>
          <a:ln>
            <a:solidFill>
              <a:srgbClr val="126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350008"/>
            <a:ext cx="397763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26A70"/>
                </a:solidFill>
                <a:latin typeface="Arial"/>
              </a:rPr>
              <a:t>购买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807208"/>
            <a:ext cx="3950208" cy="9143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3440"/>
                </a:solidFill>
                <a:latin typeface="Arial"/>
              </a:rPr>
              <a:t>2 本练习本 + 3 支笔
一共 28 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148840"/>
            <a:ext cx="4389120" cy="1737360"/>
          </a:xfrm>
          <a:prstGeom prst="roundRect">
            <a:avLst/>
          </a:prstGeom>
          <a:solidFill>
            <a:srgbClr val="F8E9DE"/>
          </a:solidFill>
          <a:ln>
            <a:solidFill>
              <a:srgbClr val="F8E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2148840"/>
            <a:ext cx="64008" cy="1737360"/>
          </a:xfrm>
          <a:prstGeom prst="rect">
            <a:avLst/>
          </a:prstGeom>
          <a:solidFill>
            <a:srgbClr val="E6AA45"/>
          </a:solidFill>
          <a:ln>
            <a:solidFill>
              <a:srgbClr val="E6A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350008"/>
            <a:ext cx="397763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E6AA45"/>
                </a:solidFill>
                <a:latin typeface="Arial"/>
              </a:rPr>
              <a:t>购买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807208"/>
            <a:ext cx="3950208" cy="9143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3440"/>
                </a:solidFill>
                <a:latin typeface="Arial"/>
              </a:rPr>
              <a:t>1 本练习本 + 5 支笔
一共 35 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709160"/>
            <a:ext cx="10058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126A70"/>
                </a:solidFill>
                <a:latin typeface="Arial"/>
              </a:rPr>
              <a:t>问题：先把哪一条购买信息变成几倍？再求两种物品的单价。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solidFill>
              <a:srgbClr val="FBF8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85216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>
                <a:solidFill>
                  <a:srgbClr val="126A70"/>
                </a:solidFill>
                <a:latin typeface="Arial"/>
              </a:rPr>
              <a:t>第 1 周｜看见关系，发现规律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79" y="256032"/>
            <a:ext cx="3703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>
                <a:solidFill>
                  <a:srgbClr val="60727B"/>
                </a:solidFill>
                <a:latin typeface="Arial"/>
              </a:rPr>
              <a:t>第 2 节｜检测反馈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0080"/>
            <a:ext cx="11155680" cy="22860"/>
          </a:xfrm>
          <a:prstGeom prst="rect">
            <a:avLst/>
          </a:prstGeom>
          <a:solidFill>
            <a:srgbClr val="126A70"/>
          </a:solidFill>
          <a:ln>
            <a:solidFill>
              <a:srgbClr val="126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100584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1F3440"/>
                </a:solidFill>
                <a:latin typeface="Arial"/>
              </a:rPr>
              <a:t>先把购买 B 变成 2 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377440"/>
            <a:ext cx="4297680" cy="1645920"/>
          </a:xfrm>
          <a:prstGeom prst="roundRect">
            <a:avLst/>
          </a:prstGeom>
          <a:solidFill>
            <a:srgbClr val="E8F1E8"/>
          </a:solidFill>
          <a:ln>
            <a:solidFill>
              <a:srgbClr val="E8F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377440"/>
            <a:ext cx="64008" cy="1645920"/>
          </a:xfrm>
          <a:prstGeom prst="rect">
            <a:avLst/>
          </a:prstGeom>
          <a:solidFill>
            <a:srgbClr val="126A70"/>
          </a:solidFill>
          <a:ln>
            <a:solidFill>
              <a:srgbClr val="126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578608"/>
            <a:ext cx="3886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26A70"/>
                </a:solidFill>
                <a:latin typeface="Arial"/>
              </a:rPr>
              <a:t>对齐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035808"/>
            <a:ext cx="385876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3440"/>
                </a:solidFill>
                <a:latin typeface="Arial"/>
              </a:rPr>
              <a:t>2 × 35 = 70（元）
2 本练习本 + 10 支笔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2377440"/>
            <a:ext cx="4297680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977639" y="2377440"/>
            <a:ext cx="64008" cy="1645920"/>
          </a:xfrm>
          <a:prstGeom prst="rect">
            <a:avLst/>
          </a:prstGeom>
          <a:solidFill>
            <a:srgbClr val="E6AA45"/>
          </a:solidFill>
          <a:ln>
            <a:solidFill>
              <a:srgbClr val="E6A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0" y="2578608"/>
            <a:ext cx="3886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E6AA45"/>
                </a:solidFill>
                <a:latin typeface="Arial"/>
              </a:rPr>
              <a:t>相减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3035808"/>
            <a:ext cx="385876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3440"/>
                </a:solidFill>
                <a:latin typeface="Arial"/>
              </a:rPr>
              <a:t>70 − 28 = 42（元）
7 支笔 = 42 元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40880" y="2377440"/>
            <a:ext cx="4297680" cy="1645920"/>
          </a:xfrm>
          <a:prstGeom prst="roundRect">
            <a:avLst/>
          </a:prstGeom>
          <a:solidFill>
            <a:srgbClr val="F8E9DE"/>
          </a:solidFill>
          <a:ln>
            <a:solidFill>
              <a:srgbClr val="F8E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40880" y="2377440"/>
            <a:ext cx="64008" cy="1645920"/>
          </a:xfrm>
          <a:prstGeom prst="rect">
            <a:avLst/>
          </a:prstGeom>
          <a:solidFill>
            <a:srgbClr val="E6AA45"/>
          </a:solidFill>
          <a:ln>
            <a:solidFill>
              <a:srgbClr val="E6A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9480" y="2578608"/>
            <a:ext cx="3886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E6AA45"/>
                </a:solidFill>
                <a:latin typeface="Arial"/>
              </a:rPr>
              <a:t>代回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035808"/>
            <a:ext cx="385876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3440"/>
                </a:solidFill>
                <a:latin typeface="Arial"/>
              </a:rPr>
              <a:t>每支笔 6 元
每本练习本 5 元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solidFill>
              <a:srgbClr val="FBF8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85216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>
                <a:solidFill>
                  <a:srgbClr val="126A70"/>
                </a:solidFill>
                <a:latin typeface="Arial"/>
              </a:rPr>
              <a:t>第 1 周｜看见关系，发现规律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79" y="256032"/>
            <a:ext cx="3703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>
                <a:solidFill>
                  <a:srgbClr val="60727B"/>
                </a:solidFill>
                <a:latin typeface="Arial"/>
              </a:rPr>
              <a:t>第 2 节｜迁移检测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0080"/>
            <a:ext cx="11155680" cy="22860"/>
          </a:xfrm>
          <a:prstGeom prst="rect">
            <a:avLst/>
          </a:prstGeom>
          <a:solidFill>
            <a:srgbClr val="126A70"/>
          </a:solidFill>
          <a:ln>
            <a:solidFill>
              <a:srgbClr val="126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100584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500" b="1">
                <a:solidFill>
                  <a:srgbClr val="1F3440"/>
                </a:solidFill>
                <a:latin typeface="Arial"/>
              </a:rPr>
              <a:t>不计算单价，先说“怎样对齐”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987552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100" b="1">
                <a:solidFill>
                  <a:srgbClr val="1F3440"/>
                </a:solidFill>
                <a:latin typeface="Arial"/>
              </a:rPr>
              <a:t>甲：4 张贴纸 + 2 支铅笔 = 32 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97480"/>
            <a:ext cx="987552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100" b="1">
                <a:solidFill>
                  <a:srgbClr val="1F3440"/>
                </a:solidFill>
                <a:latin typeface="Arial"/>
              </a:rPr>
              <a:t>乙：2 张贴纸 + 5 支铅笔 = 40 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703320"/>
            <a:ext cx="8503920" cy="1097280"/>
          </a:xfrm>
          <a:prstGeom prst="roundRect">
            <a:avLst/>
          </a:prstGeom>
          <a:solidFill>
            <a:srgbClr val="E8F1E8"/>
          </a:solidFill>
          <a:ln>
            <a:solidFill>
              <a:srgbClr val="E8F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828800" y="3703320"/>
            <a:ext cx="64008" cy="1097280"/>
          </a:xfrm>
          <a:prstGeom prst="rect">
            <a:avLst/>
          </a:prstGeom>
          <a:solidFill>
            <a:srgbClr val="126A70"/>
          </a:solidFill>
          <a:ln>
            <a:solidFill>
              <a:srgbClr val="126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57400" y="3904487"/>
            <a:ext cx="80924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26A70"/>
                </a:solidFill>
                <a:latin typeface="Arial"/>
              </a:rPr>
              <a:t>请回答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4361688"/>
            <a:ext cx="8065008" cy="2743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3440"/>
                </a:solidFill>
                <a:latin typeface="Arial"/>
              </a:rPr>
              <a:t>应该把哪一条购买信息变成几倍？
相减后会留下哪一种物品？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solidFill>
              <a:srgbClr val="FBF8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85216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>
                <a:solidFill>
                  <a:srgbClr val="126A70"/>
                </a:solidFill>
                <a:latin typeface="Arial"/>
              </a:rPr>
              <a:t>第 1 周｜看见关系，发现规律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79" y="256032"/>
            <a:ext cx="3703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>
                <a:solidFill>
                  <a:srgbClr val="60727B"/>
                </a:solidFill>
                <a:latin typeface="Arial"/>
              </a:rPr>
              <a:t>第 2 节｜迁移反馈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0080"/>
            <a:ext cx="11155680" cy="22860"/>
          </a:xfrm>
          <a:prstGeom prst="rect">
            <a:avLst/>
          </a:prstGeom>
          <a:solidFill>
            <a:srgbClr val="126A70"/>
          </a:solidFill>
          <a:ln>
            <a:solidFill>
              <a:srgbClr val="126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234440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500" b="1">
                <a:solidFill>
                  <a:srgbClr val="1F3440"/>
                </a:solidFill>
                <a:latin typeface="Arial"/>
              </a:rPr>
              <a:t>把乙变成 2 倍，让贴纸数量相同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2560320"/>
            <a:ext cx="4206240" cy="1645920"/>
          </a:xfrm>
          <a:prstGeom prst="roundRect">
            <a:avLst/>
          </a:prstGeom>
          <a:solidFill>
            <a:srgbClr val="E8F1E8"/>
          </a:solidFill>
          <a:ln>
            <a:solidFill>
              <a:srgbClr val="E8F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88720" y="2560320"/>
            <a:ext cx="64008" cy="1645920"/>
          </a:xfrm>
          <a:prstGeom prst="rect">
            <a:avLst/>
          </a:prstGeom>
          <a:solidFill>
            <a:srgbClr val="126A70"/>
          </a:solidFill>
          <a:ln>
            <a:solidFill>
              <a:srgbClr val="126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17320" y="2761488"/>
            <a:ext cx="379475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26A70"/>
                </a:solidFill>
                <a:latin typeface="Arial"/>
              </a:rPr>
              <a:t>乙的 2 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3218687"/>
            <a:ext cx="3767327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3440"/>
                </a:solidFill>
                <a:latin typeface="Arial"/>
              </a:rPr>
              <a:t>4 张贴纸 + 10 支铅笔
一共 80 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0" y="2560320"/>
            <a:ext cx="4206240" cy="1645920"/>
          </a:xfrm>
          <a:prstGeom prst="roundRect">
            <a:avLst/>
          </a:prstGeom>
          <a:solidFill>
            <a:srgbClr val="F8E9DE"/>
          </a:solidFill>
          <a:ln>
            <a:solidFill>
              <a:srgbClr val="F8E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66560" y="2560320"/>
            <a:ext cx="64008" cy="1645920"/>
          </a:xfrm>
          <a:prstGeom prst="rect">
            <a:avLst/>
          </a:prstGeom>
          <a:solidFill>
            <a:srgbClr val="E6AA45"/>
          </a:solidFill>
          <a:ln>
            <a:solidFill>
              <a:srgbClr val="E6A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2761488"/>
            <a:ext cx="379475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E6AA45"/>
                </a:solidFill>
                <a:latin typeface="Arial"/>
              </a:rPr>
              <a:t>相减后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3218687"/>
            <a:ext cx="3767327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3440"/>
                </a:solidFill>
                <a:latin typeface="Arial"/>
              </a:rPr>
              <a:t>4 张贴纸抵消，
留下 8 支铅笔的价钱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46320"/>
            <a:ext cx="10058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26A70"/>
                </a:solidFill>
                <a:latin typeface="Arial"/>
              </a:rPr>
              <a:t>不管题目换成什么，先对齐、再相减的思路不变。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solidFill>
              <a:srgbClr val="FBF8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85216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>
                <a:solidFill>
                  <a:srgbClr val="126A70"/>
                </a:solidFill>
                <a:latin typeface="Arial"/>
              </a:rPr>
              <a:t>第 1 周｜看见关系，发现规律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79" y="256032"/>
            <a:ext cx="3703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>
                <a:solidFill>
                  <a:srgbClr val="60727B"/>
                </a:solidFill>
                <a:latin typeface="Arial"/>
              </a:rPr>
              <a:t>第 2 节｜课末预习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0080"/>
            <a:ext cx="11155680" cy="22860"/>
          </a:xfrm>
          <a:prstGeom prst="rect">
            <a:avLst/>
          </a:prstGeom>
          <a:solidFill>
            <a:srgbClr val="126A70"/>
          </a:solidFill>
          <a:ln>
            <a:solidFill>
              <a:srgbClr val="126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914400"/>
            <a:ext cx="1325880" cy="338328"/>
          </a:xfrm>
          <a:prstGeom prst="roundRect">
            <a:avLst/>
          </a:prstGeom>
          <a:solidFill>
            <a:srgbClr val="E6AA45"/>
          </a:solidFill>
          <a:ln>
            <a:solidFill>
              <a:srgbClr val="E6A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1" y="987552"/>
            <a:ext cx="1179576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F3440"/>
                </a:solidFill>
                <a:latin typeface="Arial"/>
              </a:rPr>
              <a:t>只预测，不讲解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9875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700" b="1">
                <a:solidFill>
                  <a:srgbClr val="1F3440"/>
                </a:solidFill>
                <a:latin typeface="Arial"/>
              </a:rPr>
              <a:t>下一单元：两、三位数乘一位数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40280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126A70"/>
                </a:solidFill>
                <a:latin typeface="Arial"/>
              </a:rPr>
              <a:t>一盒鸡蛋有 20 个，买 3 盒一共有多少个？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03120" y="3063240"/>
            <a:ext cx="2377440" cy="1371600"/>
          </a:xfrm>
          <a:prstGeom prst="roundRect">
            <a:avLst/>
          </a:prstGeom>
          <a:solidFill>
            <a:srgbClr val="E8F1E8"/>
          </a:solidFill>
          <a:ln>
            <a:solidFill>
              <a:srgbClr val="E8F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0" y="3520440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F3440"/>
                </a:solidFill>
                <a:latin typeface="Arial"/>
              </a:rPr>
              <a:t>一盒
20 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92040" y="3063240"/>
            <a:ext cx="2377440" cy="1371600"/>
          </a:xfrm>
          <a:prstGeom prst="roundRect">
            <a:avLst/>
          </a:prstGeom>
          <a:solidFill>
            <a:srgbClr val="E8F1E8"/>
          </a:solidFill>
          <a:ln>
            <a:solidFill>
              <a:srgbClr val="E8F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92040" y="3520440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F3440"/>
                </a:solidFill>
                <a:latin typeface="Arial"/>
              </a:rPr>
              <a:t>一盒
20 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59" y="3063240"/>
            <a:ext cx="2377440" cy="1371600"/>
          </a:xfrm>
          <a:prstGeom prst="roundRect">
            <a:avLst/>
          </a:prstGeom>
          <a:solidFill>
            <a:srgbClr val="E8F1E8"/>
          </a:solidFill>
          <a:ln>
            <a:solidFill>
              <a:srgbClr val="E8F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59" y="3520440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F3440"/>
                </a:solidFill>
                <a:latin typeface="Arial"/>
              </a:rPr>
              <a:t>一盒
20 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892040"/>
            <a:ext cx="103327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26A70"/>
                </a:solidFill>
                <a:latin typeface="Arial"/>
              </a:rPr>
              <a:t>预测问题：先猜一猜一共有多少个，再说说你打算怎样想 20 × 3；不用列竖式。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solidFill>
              <a:srgbClr val="FBF8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85216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>
                <a:solidFill>
                  <a:srgbClr val="126A70"/>
                </a:solidFill>
                <a:latin typeface="Arial"/>
              </a:rPr>
              <a:t>第 1 周｜看见关系，发现规律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79" y="256032"/>
            <a:ext cx="3703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>
                <a:solidFill>
                  <a:srgbClr val="60727B"/>
                </a:solidFill>
                <a:latin typeface="Arial"/>
              </a:rPr>
              <a:t>本周方法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0080"/>
            <a:ext cx="11155680" cy="22860"/>
          </a:xfrm>
          <a:prstGeom prst="rect">
            <a:avLst/>
          </a:prstGeom>
          <a:solidFill>
            <a:srgbClr val="126A70"/>
          </a:solidFill>
          <a:ln>
            <a:solidFill>
              <a:srgbClr val="126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88720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1F3440"/>
                </a:solidFill>
                <a:latin typeface="Arial"/>
              </a:rPr>
              <a:t>我会这样解决两种购买的问题：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560320"/>
            <a:ext cx="3017520" cy="1417320"/>
          </a:xfrm>
          <a:prstGeom prst="roundRect">
            <a:avLst/>
          </a:prstGeom>
          <a:solidFill>
            <a:srgbClr val="E8F1E8"/>
          </a:solidFill>
          <a:ln>
            <a:solidFill>
              <a:srgbClr val="E8F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560320"/>
            <a:ext cx="64008" cy="1417320"/>
          </a:xfrm>
          <a:prstGeom prst="rect">
            <a:avLst/>
          </a:prstGeom>
          <a:solidFill>
            <a:srgbClr val="126A70"/>
          </a:solidFill>
          <a:ln>
            <a:solidFill>
              <a:srgbClr val="126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61488"/>
            <a:ext cx="260603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26A70"/>
                </a:solidFill>
                <a:latin typeface="Arial"/>
              </a:rPr>
              <a:t>1. 对齐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218687"/>
            <a:ext cx="2578608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3440"/>
                </a:solidFill>
                <a:latin typeface="Arial"/>
              </a:rPr>
              <a:t>让一种物品的数量相同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2560320"/>
            <a:ext cx="301752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2560320"/>
            <a:ext cx="64008" cy="1417320"/>
          </a:xfrm>
          <a:prstGeom prst="rect">
            <a:avLst/>
          </a:prstGeom>
          <a:solidFill>
            <a:srgbClr val="E6AA45"/>
          </a:solidFill>
          <a:ln>
            <a:solidFill>
              <a:srgbClr val="E6A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761488"/>
            <a:ext cx="260603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E6AA45"/>
                </a:solidFill>
                <a:latin typeface="Arial"/>
              </a:rPr>
              <a:t>2. 相减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3218687"/>
            <a:ext cx="2578608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3440"/>
                </a:solidFill>
                <a:latin typeface="Arial"/>
              </a:rPr>
              <a:t>找出另一种物品的总价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2560320"/>
            <a:ext cx="3017520" cy="1417320"/>
          </a:xfrm>
          <a:prstGeom prst="roundRect">
            <a:avLst/>
          </a:prstGeom>
          <a:solidFill>
            <a:srgbClr val="F8E9DE"/>
          </a:solidFill>
          <a:ln>
            <a:solidFill>
              <a:srgbClr val="F8E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0" y="2560320"/>
            <a:ext cx="64008" cy="1417320"/>
          </a:xfrm>
          <a:prstGeom prst="rect">
            <a:avLst/>
          </a:prstGeom>
          <a:solidFill>
            <a:srgbClr val="E6AA45"/>
          </a:solidFill>
          <a:ln>
            <a:solidFill>
              <a:srgbClr val="E6A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8200" y="2761488"/>
            <a:ext cx="260603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E6AA45"/>
                </a:solidFill>
                <a:latin typeface="Arial"/>
              </a:rPr>
              <a:t>3. 检验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218687"/>
            <a:ext cx="2578608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3440"/>
                </a:solidFill>
                <a:latin typeface="Arial"/>
              </a:rPr>
              <a:t>把答案代回原题检查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 1 周｜看见关系，发现规律</dc:title>
  <dc:subject>三年级数学课堂演示稿</dc:subject>
  <dc:creator>Codex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