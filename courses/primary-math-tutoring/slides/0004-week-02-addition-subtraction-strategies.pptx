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731520"/>
            <a:ext cx="1097280" cy="36576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813816"/>
            <a:ext cx="95097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思维专题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9692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3440"/>
                </a:solidFill>
                <a:latin typeface="Arial"/>
              </a:rPr>
              <a:t>看见结构，巧算加减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450592"/>
            <a:ext cx="5852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60727B"/>
                </a:solidFill>
                <a:latin typeface="Arial"/>
              </a:rPr>
              <a:t>第 2 周｜加减巧算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160520"/>
            <a:ext cx="6035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26A70"/>
                </a:solidFill>
                <a:latin typeface="Arial"/>
              </a:rPr>
              <a:t>今天不比谁算得快，
比谁先看见可以凑整的结构。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148840"/>
            <a:ext cx="1005840" cy="804672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423160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3440"/>
                </a:solidFill>
                <a:latin typeface="Arial"/>
              </a:rPr>
              <a:t>457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148840"/>
            <a:ext cx="1005840" cy="804672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2423160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3440"/>
                </a:solidFill>
                <a:latin typeface="Arial"/>
              </a:rPr>
              <a:t>143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18520" y="2148840"/>
            <a:ext cx="1005840" cy="804672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2423160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3440"/>
                </a:solidFill>
                <a:latin typeface="Arial"/>
              </a:rPr>
              <a:t>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395728"/>
            <a:ext cx="3200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1904" y="2395728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本周学习路线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440"/>
                </a:solidFill>
                <a:latin typeface="Arial"/>
              </a:rPr>
              <a:t>一节思维课：复现 → 发现 → 迁移 → 预热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2316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1984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短复习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70632"/>
            <a:ext cx="19659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校内易错点
只复现，不新授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4884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214884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331720"/>
            <a:ext cx="1984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主专题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770632"/>
            <a:ext cx="19659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加减巧算
看见凑整结构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2423160" cy="150876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4884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7" y="2331720"/>
            <a:ext cx="1984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独立迁移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770632"/>
            <a:ext cx="19659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改写算式
说清为什么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148840"/>
            <a:ext cx="242316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214884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331720"/>
            <a:ext cx="1984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下一次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770632"/>
            <a:ext cx="19659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巧添符号
先猜想，不讲解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10515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每一次变形，都要说清“为什么还相等”。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节｜课内综合诊断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1097280" cy="36576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996696"/>
            <a:ext cx="95097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独立完成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440"/>
                </a:solidFill>
                <a:latin typeface="Arial"/>
              </a:rPr>
              <a:t>只用几分钟，找出今天要注意的地方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487168"/>
            <a:ext cx="429768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2487168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670048"/>
            <a:ext cx="38587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混合运算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108960"/>
            <a:ext cx="384048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(96 − 24) ÷ 8 + 13 × 2 = ____
写出每一步的依据。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487168"/>
            <a:ext cx="4297680" cy="150876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487168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670048"/>
            <a:ext cx="38587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时间综合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108960"/>
            <a:ext cx="384048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9:00 出发，行程共 6 小时 50 分。
16:00 返回，还剩几分钟？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73168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6A70"/>
                </a:solidFill>
                <a:latin typeface="Arial"/>
              </a:rPr>
              <a:t>课内问题只用来诊断，不占用今天的主专题。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节｜复习反馈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60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综合复习：算对，更要能检查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240280"/>
            <a:ext cx="2926080" cy="182880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" y="2240280"/>
            <a:ext cx="64008" cy="182880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42316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混合运算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862072"/>
            <a:ext cx="24688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(96 − 24) ÷ 8 + 13 × 2
= 9 + 26 =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24028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240280"/>
            <a:ext cx="64008" cy="182880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7" y="242316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时间综合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7" y="2862072"/>
            <a:ext cx="24688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从 9:00 到 16:00 是 7 小时。
7 小时 − 6 小时 50 分
= 10 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240280"/>
            <a:ext cx="2926080" cy="182880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240280"/>
            <a:ext cx="64008" cy="182880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42316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带到后面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62072"/>
            <a:ext cx="24688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巧算也不能随便换号、
丢掉括号或改变减数。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数数图形｜复习热身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7 个点在一条线上，有多少条线段？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3035808"/>
            <a:ext cx="8138160" cy="18288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743200"/>
            <a:ext cx="548640" cy="54864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898648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6A70"/>
                </a:solidFill>
                <a:latin typeface="Arial"/>
              </a:rPr>
              <a:t>A</a:t>
            </a:r>
          </a:p>
        </p:txBody>
      </p:sp>
      <p:sp>
        <p:nvSpPr>
          <p:cNvPr id="10" name="Oval 9"/>
          <p:cNvSpPr/>
          <p:nvPr/>
        </p:nvSpPr>
        <p:spPr>
          <a:xfrm>
            <a:off x="2331720" y="2743200"/>
            <a:ext cx="548640" cy="54864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898648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6A70"/>
                </a:solidFill>
                <a:latin typeface="Arial"/>
              </a:rPr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3108960" y="2743200"/>
            <a:ext cx="548640" cy="54864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898648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6A70"/>
                </a:solidFill>
                <a:latin typeface="Arial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886200" y="2743200"/>
            <a:ext cx="548640" cy="54864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898648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6A70"/>
                </a:solidFill>
                <a:latin typeface="Arial"/>
              </a:rPr>
              <a:t>D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743200"/>
            <a:ext cx="548640" cy="54864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898648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6A70"/>
                </a:solidFill>
                <a:latin typeface="Arial"/>
              </a:rPr>
              <a:t>E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0" y="2743200"/>
            <a:ext cx="548640" cy="54864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898648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6A70"/>
                </a:solidFill>
                <a:latin typeface="Arial"/>
              </a:rPr>
              <a:t>F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2743200"/>
            <a:ext cx="548640" cy="54864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898648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6A70"/>
                </a:solidFill>
                <a:latin typeface="Arial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10149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只问一件事：怎样记录才不会重复、不会遗漏？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数数图形｜热身反馈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424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从左到右，有顺序地记录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331720"/>
            <a:ext cx="2103120" cy="114300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331720"/>
            <a:ext cx="64008" cy="114300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5608" y="2514600"/>
            <a:ext cx="16642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从 A、B 出发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953512"/>
            <a:ext cx="1645919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6 + 5 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33172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2331720"/>
            <a:ext cx="64008" cy="114300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514600"/>
            <a:ext cx="16642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从 C、D 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2953512"/>
            <a:ext cx="1645919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4 + 3 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31720"/>
            <a:ext cx="2103120" cy="114300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331720"/>
            <a:ext cx="64008" cy="114300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514600"/>
            <a:ext cx="16642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从 E、F 出发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953512"/>
            <a:ext cx="1645919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2 + 1 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331720"/>
            <a:ext cx="2103120" cy="114300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2331720"/>
            <a:ext cx="64008" cy="114300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2514600"/>
            <a:ext cx="16642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一共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2953512"/>
            <a:ext cx="1645919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6+5+4+3+2+1
= 21 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8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有序枚举不是慢，而是用结构保证完整。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节｜主例题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100" b="1">
                <a:solidFill>
                  <a:srgbClr val="1F3440"/>
                </a:solidFill>
                <a:latin typeface="Arial"/>
              </a:rPr>
              <a:t>457 + 321 + 143 + 479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26A70"/>
                </a:solidFill>
                <a:latin typeface="Arial"/>
              </a:rPr>
              <a:t>不用从左到右马上计算。先观察：哪两个数相加最接近整百？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200400"/>
            <a:ext cx="8321040" cy="13258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3200400"/>
            <a:ext cx="64008" cy="13258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3383280"/>
            <a:ext cx="78821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3822191"/>
            <a:ext cx="786384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1F3440"/>
                </a:solidFill>
                <a:latin typeface="Arial"/>
              </a:rPr>
              <a:t>圈出你想先相加的一对数，
并写出理由。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静想一下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3440"/>
                </a:solidFill>
                <a:latin typeface="Arial"/>
              </a:rPr>
              <a:t>先不动笔算，先找“朋友数”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514600"/>
            <a:ext cx="4251960" cy="15544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2514600"/>
            <a:ext cx="64008" cy="15544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2697480"/>
            <a:ext cx="3813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试一试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136392"/>
            <a:ext cx="3794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457 和谁相加
最接近整百？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514600"/>
            <a:ext cx="4251960" cy="155448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514600"/>
            <a:ext cx="64008" cy="15544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697480"/>
            <a:ext cx="3813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再想一想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136392"/>
            <a:ext cx="3794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321 和谁相加
最接近整百？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241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先写猜想，再用计算验证。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节｜看见结构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126A70"/>
                </a:solidFill>
                <a:latin typeface="Arial"/>
              </a:rPr>
              <a:t>457 + 143 = 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4300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E6AA45"/>
                </a:solidFill>
                <a:latin typeface="Arial"/>
              </a:rPr>
              <a:t>321 + 479 = 800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606040"/>
            <a:ext cx="9829800" cy="114300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2606040"/>
            <a:ext cx="64008" cy="114300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" y="2788920"/>
            <a:ext cx="9390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可以这样排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3227832"/>
            <a:ext cx="93726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>
                <a:solidFill>
                  <a:srgbClr val="1F3440"/>
                </a:solidFill>
                <a:latin typeface="Arial"/>
              </a:rPr>
              <a:t>(457 + 143) + (321 + 479)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440"/>
                </a:solidFill>
                <a:latin typeface="Arial"/>
              </a:rPr>
              <a:t>加法交换律和结合律：加数换位置、重新分组，和不变。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节｜规范解答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3440"/>
                </a:solidFill>
                <a:latin typeface="Arial"/>
              </a:rPr>
              <a:t>457 + 321 + 143 + 479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26A70"/>
                </a:solidFill>
                <a:latin typeface="Arial"/>
              </a:rPr>
              <a:t>= (457 + 143) + (321 + 479)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26A70"/>
                </a:solidFill>
                <a:latin typeface="Arial"/>
              </a:rPr>
              <a:t>= 600 + 800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0332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6AA45"/>
                </a:solidFill>
                <a:latin typeface="Arial"/>
              </a:rPr>
              <a:t>= 1400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先找能凑整的数，再用规则把它们放在一起。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节｜减加也能凑整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>
                <a:solidFill>
                  <a:srgbClr val="1F3440"/>
                </a:solidFill>
                <a:latin typeface="Arial"/>
              </a:rPr>
              <a:t>623 − 251 + 177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514600"/>
            <a:ext cx="4206240" cy="15544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514600"/>
            <a:ext cx="64008" cy="15544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5608" y="2697480"/>
            <a:ext cx="37673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先看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3136392"/>
            <a:ext cx="37490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1F3440"/>
                </a:solidFill>
                <a:latin typeface="Arial"/>
              </a:rPr>
              <a:t>623 和 177
可以凑成多少？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514600"/>
            <a:ext cx="4206240" cy="155448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2514600"/>
            <a:ext cx="64008" cy="15544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7" y="2697480"/>
            <a:ext cx="37673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再算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7" y="3136392"/>
            <a:ext cx="37490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1F3440"/>
                </a:solidFill>
                <a:latin typeface="Arial"/>
              </a:rPr>
              <a:t>(623 + 177) − 251
= 800 − 251
= 549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能调整的是加数的位置；减去 251 的意思不能丢。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节｜连续减法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>
                <a:solidFill>
                  <a:srgbClr val="1F3440"/>
                </a:solidFill>
                <a:latin typeface="Arial"/>
              </a:rPr>
              <a:t>537 − 158 − 42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514600"/>
            <a:ext cx="4114800" cy="13258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514600"/>
            <a:ext cx="64008" cy="13258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2697480"/>
            <a:ext cx="36758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先合并减数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136392"/>
            <a:ext cx="3657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1F3440"/>
                </a:solidFill>
                <a:latin typeface="Arial"/>
              </a:rPr>
              <a:t>158 + 42 = 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514600"/>
            <a:ext cx="4343400" cy="132588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514600"/>
            <a:ext cx="64008" cy="13258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697480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再从总数里减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136392"/>
            <a:ext cx="38862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537 − (158 + 42)
= 537 − 200
= 337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连续减去两个数，等于减去这两个数的和。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本周方法卡｜加减巧算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926080" cy="16916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64008" cy="16916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19456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找结构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633472"/>
            <a:ext cx="246888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谁和谁相加
能凑整？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011680"/>
            <a:ext cx="2926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2011680"/>
            <a:ext cx="64008" cy="16916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219456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按规则变形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633472"/>
            <a:ext cx="246888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加数可交换、结合；
减数不能随意变号。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011680"/>
            <a:ext cx="2926080" cy="16916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011680"/>
            <a:ext cx="64008" cy="16916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19456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算完检验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633472"/>
            <a:ext cx="246888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估一估、反着算，
看结果是否合理。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巧算不是跳步，而是让每一步更有理由。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节｜独立检测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1097280" cy="36576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996696"/>
            <a:ext cx="95097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独立完成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3440"/>
                </a:solidFill>
                <a:latin typeface="Arial"/>
              </a:rPr>
              <a:t>999 − 1 + 998 − 2 + 997 − 3 + 996 − 4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788920"/>
            <a:ext cx="8503920" cy="14630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2788920"/>
            <a:ext cx="64008" cy="14630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2971800"/>
            <a:ext cx="8065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3410712"/>
            <a:ext cx="8046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1F3440"/>
                </a:solidFill>
                <a:latin typeface="Arial"/>
              </a:rPr>
              <a:t>① 自己决定怎样分组。
② 写出每一组的共同结构。
③ 用估算检查最后结果。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19472"/>
            <a:ext cx="10332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不要只写答案，要把“看见的规律”写出来。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节｜检测反馈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3440"/>
                </a:solidFill>
                <a:latin typeface="Arial"/>
              </a:rPr>
              <a:t>999 − 1 + 998 − 2 + 997 − 3 + 996 − 4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331720"/>
            <a:ext cx="4069080" cy="13258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31720"/>
            <a:ext cx="64008" cy="13258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2514600"/>
            <a:ext cx="3630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前两组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953512"/>
            <a:ext cx="36118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1F3440"/>
                </a:solidFill>
                <a:latin typeface="Arial"/>
              </a:rPr>
              <a:t>999−1=998
998−2=996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31720"/>
            <a:ext cx="4069080" cy="132588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331720"/>
            <a:ext cx="64008" cy="13258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514600"/>
            <a:ext cx="3630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后两组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953512"/>
            <a:ext cx="36118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1F3440"/>
                </a:solidFill>
                <a:latin typeface="Arial"/>
              </a:rPr>
              <a:t>997−3=994
996−4=992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10332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26A70"/>
                </a:solidFill>
                <a:latin typeface="Arial"/>
              </a:rPr>
              <a:t>998 + 996 + 994 + 992 = 3980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332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0727B"/>
                </a:solidFill>
                <a:latin typeface="Arial"/>
              </a:rPr>
              <a:t>检查：4 个接近 1000 的数相加，结果接近 4000，合理。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节｜迁移检测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440"/>
                </a:solidFill>
                <a:latin typeface="Arial"/>
              </a:rPr>
              <a:t>1000 − 81 − 19 − 82 − 18 − 83 − 17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651760"/>
            <a:ext cx="420624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65176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5608" y="2834640"/>
            <a:ext cx="37673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先找配对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3273552"/>
            <a:ext cx="3749039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哪些减数相加
正好是 100？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51760"/>
            <a:ext cx="4206240" cy="150876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265176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7" y="2834640"/>
            <a:ext cx="37673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再判断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7" y="3273552"/>
            <a:ext cx="3749039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1F3440"/>
                </a:solidFill>
                <a:latin typeface="Arial"/>
              </a:rPr>
              <a:t>连续减法能否改写成
减去一串减数的和？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先写出改写后的算式，再计算。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节｜迁移反馈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F3440"/>
                </a:solidFill>
                <a:latin typeface="Arial"/>
              </a:rPr>
              <a:t>1000 − 81 − 19 − 82 − 18 − 83 − 17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26A70"/>
                </a:solidFill>
                <a:latin typeface="Arial"/>
              </a:rPr>
              <a:t>= 1000 − [(81+19) + (82+18) + (83+17)]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26A70"/>
                </a:solidFill>
                <a:latin typeface="Arial"/>
              </a:rPr>
              <a:t>= 1000 − 300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6AA45"/>
                </a:solidFill>
                <a:latin typeface="Arial"/>
              </a:rPr>
              <a:t>= 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连续减去多个数，先把所有减数相加，再从总数里减。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周｜看见结构，巧算加减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56032"/>
            <a:ext cx="4160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节｜课末预习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914400"/>
            <a:ext cx="1508760" cy="36576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996696"/>
            <a:ext cx="136245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巧添符号｜预热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3440"/>
                </a:solidFill>
                <a:latin typeface="Arial"/>
              </a:rPr>
              <a:t>1  2  3  4  5  =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743200"/>
            <a:ext cx="4251960" cy="141732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25880" y="2743200"/>
            <a:ext cx="64008" cy="141732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2926080"/>
            <a:ext cx="3813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猜一猜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364992"/>
            <a:ext cx="379476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1F3440"/>
                </a:solidFill>
                <a:latin typeface="Arial"/>
              </a:rPr>
              <a:t>在相邻数字之间，可以添哪些运算符号或括号？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43200"/>
            <a:ext cx="4251960" cy="141732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2743200"/>
            <a:ext cx="64008" cy="141732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926080"/>
            <a:ext cx="3813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从目标倒着想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364992"/>
            <a:ext cx="379476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要得到 10，最后一步可能是什么？
先凑接近 10 的数也可以。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今天只记录猜想；下一次再学习怎样有顺序地尝试。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2 周｜看见结构，巧算加减</dc:title>
  <dc:subject>三年级数学学生课堂演示稿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